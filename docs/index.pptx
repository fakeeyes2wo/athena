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    <Relationship Id="rId1" Type="http://schemas.openxmlformats.org/officeDocument/2006/relationships/extended-properties" Target="docProps/app.xml"/>
    <Relationship Id="rId2" Type="http://schemas.openxmlformats.org/package/2006/relationships/metadata/core-properties" Target="docProps/core.xml"/>
    <Relationship Id="rId3" Type="http://schemas.openxmlformats.org/officeDocument/2006/relationships/officeDocument" Target="ppt/presentation.xml"/>
    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    <Relationship Id="rId1" Type="http://schemas.openxmlformats.org/officeDocument/2006/relationships/theme" Target="../theme/theme1.xml"/>
    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.xml"/>
    </Relationships>
</file>

<file path=ppt/notesSlides/_rels/notesSlide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.xml"/>
    </Relationships>
</file>

<file path=ppt/notesSlides/_rels/notesSlide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3.xml"/>
    </Relationships>
</file>

<file path=ppt/notesSlides/_rels/notesSlide4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4.xml"/>
    </Relationships>
</file>

<file path=ppt/notesSlides/_rels/notesSlide5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5.xml"/>
    </Relationships>
</file>

<file path=ppt/notesSlides/_rels/notesSlide6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6.xml"/>
    </Relationships>
</file>

<file path=ppt/notesSlides/_rels/notesSlide7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7.xml"/>
    </Relationships>
</file>

<file path=ppt/notesSlides/_rels/notesSlide8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8.xml"/>
    </Relationships>
</file>

<file path=ppt/notesSlides/_rels/notesSlide9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9.xml"/>
    </Relationships>
</file>

<file path=ppt/notesSlides/_rels/notesSlide10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0.xml"/>
    </Relationships>
</file>

<file path=ppt/notesSlides/_rels/notesSlide1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1.xml"/>
    </Relationships>
</file>

<file path=ppt/notesSlides/_rels/notesSlide1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2.xml"/>
    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7569002" y="342900"/>
            <a:ext cx="10987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挑战杯 · 系统设计 · 2026</a:t>
            </a:r>
            <a:endParaRPr lang="en-US" sz="563" dirty="0"/>
          </a:p>
        </p:txBody>
      </p:sp>
      <p:sp>
        <p:nvSpPr>
          <p:cNvPr id="8" name="Shape 8"/>
          <p:cNvSpPr/>
          <p:nvPr/>
        </p:nvSpPr>
        <p:spPr>
          <a:xfrm>
            <a:off x="476250" y="688975"/>
            <a:ext cx="209550" cy="19050"/>
          </a:xfrm>
          <a:prstGeom prst="rect">
            <a:avLst/>
          </a:prstGeom>
          <a:solidFill>
            <a:srgbClr val="C04A1A"/>
          </a:solidFill>
          <a:ln/>
        </p:spPr>
      </p:sp>
      <p:sp>
        <p:nvSpPr>
          <p:cNvPr id="9" name="TextBox 8"/>
          <p:cNvSpPr/>
          <p:nvPr/>
        </p:nvSpPr>
        <p:spPr>
          <a:xfrm>
            <a:off x="476250" y="688975"/>
            <a:ext cx="8191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LAUNCH · AUTOMATED SCIENCE</a:t>
            </a:r>
            <a:endParaRPr lang="en-US" sz="563" dirty="0"/>
          </a:p>
        </p:txBody>
      </p:sp>
      <p:sp>
        <p:nvSpPr>
          <p:cNvPr id="10" name="TextBox 12"/>
          <p:cNvSpPr/>
          <p:nvPr/>
        </p:nvSpPr>
        <p:spPr>
          <a:xfrm>
            <a:off x="476250" y="1696591"/>
            <a:ext cx="8191500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500" b="1" spc="45" kern="0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Athena</a:t>
            </a:r>
            <a:endParaRPr lang="en-US" sz="4500" dirty="0"/>
          </a:p>
          <a:p>
            <a:pPr algn="l" indent="0" marL="0">
              <a:lnSpc>
                <a:spcPts val="5040"/>
              </a:lnSpc>
              <a:buNone/>
            </a:pPr>
            <a:r>
              <a:rPr lang="en-US" sz="4500" b="1" spc="45" kern="0" dirty="0">
                <a:solidFill>
                  <a:srgbClr val="C04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自动化 AI4S</a:t>
            </a:r>
            <a:endParaRPr lang="en-US" sz="4500" dirty="0"/>
          </a:p>
        </p:txBody>
      </p:sp>
      <p:sp>
        <p:nvSpPr>
          <p:cNvPr id="11" name="TextBox 14"/>
          <p:cNvSpPr/>
          <p:nvPr/>
        </p:nvSpPr>
        <p:spPr>
          <a:xfrm>
            <a:off x="476250" y="3062436"/>
            <a:ext cx="819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6181D">
                    <a:alpha val="62000"/>
                  </a:srgb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从目标与数据到可复现实验与报告 — </a:t>
            </a:r>
            <a:r>
              <a:rPr lang="en-US" sz="1050" b="1" i="1" dirty="0">
                <a:solidFill>
                  <a:srgbClr val="1618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一个控制面 · 一条事实链</a:t>
            </a:r>
            <a:endParaRPr lang="en-US" sz="1050" dirty="0"/>
          </a:p>
        </p:txBody>
      </p:sp>
      <p:sp>
        <p:nvSpPr>
          <p:cNvPr id="12" name="Shape 17"/>
          <p:cNvSpPr/>
          <p:nvPr/>
        </p:nvSpPr>
        <p:spPr>
          <a:xfrm>
            <a:off x="476250" y="4384427"/>
            <a:ext cx="8191500" cy="339973"/>
          </a:xfrm>
          <a:prstGeom prst="rect">
            <a:avLst/>
          </a:prstGeom>
          <a:solidFill>
            <a:srgbClr val="C04A1A">
              <a:alpha val="10000"/>
            </a:srgbClr>
          </a:solidFill>
          <a:ln/>
        </p:spPr>
      </p:sp>
      <p:pic>
        <p:nvPicPr>
          <p:cNvPr id="13" name="Picture 17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384427"/>
            <a:ext cx="8191500" cy="339973"/>
          </a:xfrm>
          <a:prstGeom prst="rect">
            <a:avLst/>
          </a:prstGeom>
        </p:spPr>
      </p:pic>
      <p:sp>
        <p:nvSpPr>
          <p:cNvPr id="14" name="TextBox 19"/>
          <p:cNvSpPr/>
          <p:nvPr/>
        </p:nvSpPr>
        <p:spPr>
          <a:xfrm>
            <a:off x="565150" y="4552355"/>
            <a:ext cx="3258889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16181D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开场 15 秒：Athena 是面向 AI for Science 的自动化实验系统，强调可复现、可审计、最小闭环。</a:t>
            </a:r>
            <a:endParaRPr lang="en-US" sz="600" dirty="0"/>
          </a:p>
        </p:txBody>
      </p:sp>
      <p:sp>
        <p:nvSpPr>
          <p:cNvPr id="15" name="TextBox 18"/>
          <p:cNvSpPr/>
          <p:nvPr/>
        </p:nvSpPr>
        <p:spPr>
          <a:xfrm>
            <a:off x="565150" y="4441577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16" name="Shape 21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17" name="Picture 21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18" name="TextBox 22"/>
          <p:cNvSpPr/>
          <p:nvPr/>
        </p:nvSpPr>
        <p:spPr>
          <a:xfrm>
            <a:off x="476250" y="4794250"/>
            <a:ext cx="222895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cover</a:t>
            </a:r>
            <a:endParaRPr lang="en-US" sz="488" dirty="0"/>
          </a:p>
        </p:txBody>
      </p:sp>
      <p:sp>
        <p:nvSpPr>
          <p:cNvPr id="19" name="TextBox 23"/>
          <p:cNvSpPr/>
          <p:nvPr/>
        </p:nvSpPr>
        <p:spPr>
          <a:xfrm>
            <a:off x="7776171" y="4794250"/>
            <a:ext cx="89158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Design Spec</a:t>
            </a:r>
            <a:endParaRPr lang="en-US" sz="48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8244830" y="342900"/>
            <a:ext cx="4229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</a:t>
            </a:r>
            <a:endParaRPr lang="en-US" sz="563" dirty="0"/>
          </a:p>
        </p:txBody>
      </p:sp>
      <p:sp>
        <p:nvSpPr>
          <p:cNvPr id="8" name="Shape 8"/>
          <p:cNvSpPr/>
          <p:nvPr/>
        </p:nvSpPr>
        <p:spPr>
          <a:xfrm>
            <a:off x="476250" y="688975"/>
            <a:ext cx="209550" cy="19050"/>
          </a:xfrm>
          <a:prstGeom prst="rect">
            <a:avLst/>
          </a:prstGeom>
          <a:solidFill>
            <a:srgbClr val="C04A1A"/>
          </a:solidFill>
          <a:ln/>
        </p:spPr>
      </p:sp>
      <p:sp>
        <p:nvSpPr>
          <p:cNvPr id="9" name="TextBox 8"/>
          <p:cNvSpPr/>
          <p:nvPr/>
        </p:nvSpPr>
        <p:spPr>
          <a:xfrm>
            <a:off x="476250" y="688975"/>
            <a:ext cx="8191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</a:t>
            </a:r>
            <a:endParaRPr lang="en-US" sz="563" dirty="0"/>
          </a:p>
        </p:txBody>
      </p:sp>
      <p:sp>
        <p:nvSpPr>
          <p:cNvPr id="10" name="TextBox 10"/>
          <p:cNvSpPr/>
          <p:nvPr/>
        </p:nvSpPr>
        <p:spPr>
          <a:xfrm>
            <a:off x="476250" y="917575"/>
            <a:ext cx="8191500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六章叙事，对齐决策</a:t>
            </a:r>
            <a:endParaRPr lang="en-US" sz="2400" dirty="0"/>
          </a:p>
        </p:txBody>
      </p:sp>
      <p:sp>
        <p:nvSpPr>
          <p:cNvPr id="11" name="Shape 14"/>
          <p:cNvSpPr/>
          <p:nvPr/>
        </p:nvSpPr>
        <p:spPr>
          <a:xfrm>
            <a:off x="476250" y="1543050"/>
            <a:ext cx="2603500" cy="651322"/>
          </a:xfrm>
          <a:prstGeom prst="rect">
            <a:avLst/>
          </a:prstGeom>
          <a:noFill/>
          <a:ln/>
        </p:spPr>
      </p:sp>
      <p:pic>
        <p:nvPicPr>
          <p:cNvPr id="12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543050"/>
            <a:ext cx="2603500" cy="651322"/>
          </a:xfrm>
          <a:prstGeom prst="rect">
            <a:avLst/>
          </a:prstGeom>
        </p:spPr>
      </p:pic>
      <p:sp>
        <p:nvSpPr>
          <p:cNvPr id="13" name="TextBox 16"/>
          <p:cNvSpPr/>
          <p:nvPr/>
        </p:nvSpPr>
        <p:spPr>
          <a:xfrm>
            <a:off x="476250" y="1641475"/>
            <a:ext cx="2603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105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525" dirty="0"/>
          </a:p>
        </p:txBody>
      </p:sp>
      <p:sp>
        <p:nvSpPr>
          <p:cNvPr id="14" name="TextBox 18"/>
          <p:cNvSpPr/>
          <p:nvPr/>
        </p:nvSpPr>
        <p:spPr>
          <a:xfrm>
            <a:off x="476250" y="1774825"/>
            <a:ext cx="2603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问题与边界</a:t>
            </a:r>
            <a:endParaRPr lang="en-US" sz="1200" dirty="0"/>
          </a:p>
        </p:txBody>
      </p:sp>
      <p:sp>
        <p:nvSpPr>
          <p:cNvPr id="15" name="TextBox 20"/>
          <p:cNvSpPr/>
          <p:nvPr/>
        </p:nvSpPr>
        <p:spPr>
          <a:xfrm>
            <a:off x="476250" y="2032000"/>
            <a:ext cx="2603500" cy="1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输入输出 · 阶段路线</a:t>
            </a:r>
            <a:endParaRPr lang="en-US" sz="825" dirty="0"/>
          </a:p>
        </p:txBody>
      </p:sp>
      <p:sp>
        <p:nvSpPr>
          <p:cNvPr id="16" name="Shape 23"/>
          <p:cNvSpPr/>
          <p:nvPr/>
        </p:nvSpPr>
        <p:spPr>
          <a:xfrm>
            <a:off x="3270250" y="1543050"/>
            <a:ext cx="2603500" cy="651322"/>
          </a:xfrm>
          <a:prstGeom prst="rect">
            <a:avLst/>
          </a:prstGeom>
          <a:noFill/>
          <a:ln/>
        </p:spPr>
      </p:sp>
      <p:pic>
        <p:nvPicPr>
          <p:cNvPr id="17" name="Picture 23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0250" y="1543050"/>
            <a:ext cx="2603500" cy="651322"/>
          </a:xfrm>
          <a:prstGeom prst="rect">
            <a:avLst/>
          </a:prstGeom>
        </p:spPr>
      </p:pic>
      <p:sp>
        <p:nvSpPr>
          <p:cNvPr id="18" name="TextBox 25"/>
          <p:cNvSpPr/>
          <p:nvPr/>
        </p:nvSpPr>
        <p:spPr>
          <a:xfrm>
            <a:off x="3270250" y="1641475"/>
            <a:ext cx="2603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105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525" dirty="0"/>
          </a:p>
        </p:txBody>
      </p:sp>
      <p:sp>
        <p:nvSpPr>
          <p:cNvPr id="19" name="TextBox 27"/>
          <p:cNvSpPr/>
          <p:nvPr/>
        </p:nvSpPr>
        <p:spPr>
          <a:xfrm>
            <a:off x="3270250" y="1774825"/>
            <a:ext cx="2603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四平面架构</a:t>
            </a:r>
            <a:endParaRPr lang="en-US" sz="1200" dirty="0"/>
          </a:p>
        </p:txBody>
      </p:sp>
      <p:sp>
        <p:nvSpPr>
          <p:cNvPr id="20" name="TextBox 29"/>
          <p:cNvSpPr/>
          <p:nvPr/>
        </p:nvSpPr>
        <p:spPr>
          <a:xfrm>
            <a:off x="3270250" y="2032000"/>
            <a:ext cx="2603500" cy="1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控制 · 策略 · 执行 · 事实</a:t>
            </a:r>
            <a:endParaRPr lang="en-US" sz="825" dirty="0"/>
          </a:p>
        </p:txBody>
      </p:sp>
      <p:sp>
        <p:nvSpPr>
          <p:cNvPr id="21" name="Shape 32"/>
          <p:cNvSpPr/>
          <p:nvPr/>
        </p:nvSpPr>
        <p:spPr>
          <a:xfrm>
            <a:off x="6064250" y="1543050"/>
            <a:ext cx="2603500" cy="651322"/>
          </a:xfrm>
          <a:prstGeom prst="rect">
            <a:avLst/>
          </a:prstGeom>
          <a:noFill/>
          <a:ln/>
        </p:spPr>
      </p:sp>
      <p:pic>
        <p:nvPicPr>
          <p:cNvPr id="22" name="Picture 32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64250" y="1543050"/>
            <a:ext cx="2603500" cy="651322"/>
          </a:xfrm>
          <a:prstGeom prst="rect">
            <a:avLst/>
          </a:prstGeom>
        </p:spPr>
      </p:pic>
      <p:sp>
        <p:nvSpPr>
          <p:cNvPr id="23" name="TextBox 34"/>
          <p:cNvSpPr/>
          <p:nvPr/>
        </p:nvSpPr>
        <p:spPr>
          <a:xfrm>
            <a:off x="6064250" y="1641475"/>
            <a:ext cx="2603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105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525" dirty="0"/>
          </a:p>
        </p:txBody>
      </p:sp>
      <p:sp>
        <p:nvSpPr>
          <p:cNvPr id="24" name="TextBox 36"/>
          <p:cNvSpPr/>
          <p:nvPr/>
        </p:nvSpPr>
        <p:spPr>
          <a:xfrm>
            <a:off x="6064250" y="1774825"/>
            <a:ext cx="2603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实验流水线</a:t>
            </a:r>
            <a:endParaRPr lang="en-US" sz="1200" dirty="0"/>
          </a:p>
        </p:txBody>
      </p:sp>
      <p:sp>
        <p:nvSpPr>
          <p:cNvPr id="25" name="TextBox 38"/>
          <p:cNvSpPr/>
          <p:nvPr/>
        </p:nvSpPr>
        <p:spPr>
          <a:xfrm>
            <a:off x="6064250" y="2032000"/>
            <a:ext cx="2603500" cy="1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Prepare → Search → Validate</a:t>
            </a:r>
            <a:endParaRPr lang="en-US" sz="825" dirty="0"/>
          </a:p>
        </p:txBody>
      </p:sp>
      <p:sp>
        <p:nvSpPr>
          <p:cNvPr id="26" name="Shape 41"/>
          <p:cNvSpPr/>
          <p:nvPr/>
        </p:nvSpPr>
        <p:spPr>
          <a:xfrm>
            <a:off x="476250" y="2327722"/>
            <a:ext cx="2603500" cy="651322"/>
          </a:xfrm>
          <a:prstGeom prst="rect">
            <a:avLst/>
          </a:prstGeom>
          <a:noFill/>
          <a:ln/>
        </p:spPr>
      </p:sp>
      <p:pic>
        <p:nvPicPr>
          <p:cNvPr id="27" name="Picture 41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" y="2327722"/>
            <a:ext cx="2603500" cy="651322"/>
          </a:xfrm>
          <a:prstGeom prst="rect">
            <a:avLst/>
          </a:prstGeom>
        </p:spPr>
      </p:pic>
      <p:sp>
        <p:nvSpPr>
          <p:cNvPr id="28" name="TextBox 43"/>
          <p:cNvSpPr/>
          <p:nvPr/>
        </p:nvSpPr>
        <p:spPr>
          <a:xfrm>
            <a:off x="476250" y="2426147"/>
            <a:ext cx="2603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105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525" dirty="0"/>
          </a:p>
        </p:txBody>
      </p:sp>
      <p:sp>
        <p:nvSpPr>
          <p:cNvPr id="29" name="TextBox 45"/>
          <p:cNvSpPr/>
          <p:nvPr/>
        </p:nvSpPr>
        <p:spPr>
          <a:xfrm>
            <a:off x="476250" y="2559497"/>
            <a:ext cx="2603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30" name="TextBox 47"/>
          <p:cNvSpPr/>
          <p:nvPr/>
        </p:nvSpPr>
        <p:spPr>
          <a:xfrm>
            <a:off x="476250" y="2816672"/>
            <a:ext cx="2603500" cy="1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 · 假设 · 代码 · 评估</a:t>
            </a:r>
            <a:endParaRPr lang="en-US" sz="825" dirty="0"/>
          </a:p>
        </p:txBody>
      </p:sp>
      <p:sp>
        <p:nvSpPr>
          <p:cNvPr id="31" name="Shape 50"/>
          <p:cNvSpPr/>
          <p:nvPr/>
        </p:nvSpPr>
        <p:spPr>
          <a:xfrm>
            <a:off x="3270250" y="2327722"/>
            <a:ext cx="2603500" cy="651322"/>
          </a:xfrm>
          <a:prstGeom prst="rect">
            <a:avLst/>
          </a:prstGeom>
          <a:noFill/>
          <a:ln/>
        </p:spPr>
      </p:sp>
      <p:pic>
        <p:nvPicPr>
          <p:cNvPr id="32" name="Picture 50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70250" y="2327722"/>
            <a:ext cx="2603500" cy="651322"/>
          </a:xfrm>
          <a:prstGeom prst="rect">
            <a:avLst/>
          </a:prstGeom>
        </p:spPr>
      </p:pic>
      <p:sp>
        <p:nvSpPr>
          <p:cNvPr id="33" name="TextBox 52"/>
          <p:cNvSpPr/>
          <p:nvPr/>
        </p:nvSpPr>
        <p:spPr>
          <a:xfrm>
            <a:off x="3270250" y="2426147"/>
            <a:ext cx="2603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105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525" dirty="0"/>
          </a:p>
        </p:txBody>
      </p:sp>
      <p:sp>
        <p:nvSpPr>
          <p:cNvPr id="34" name="TextBox 54"/>
          <p:cNvSpPr/>
          <p:nvPr/>
        </p:nvSpPr>
        <p:spPr>
          <a:xfrm>
            <a:off x="3270250" y="2559497"/>
            <a:ext cx="2603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技术壁垒</a:t>
            </a:r>
            <a:endParaRPr lang="en-US" sz="1200" dirty="0"/>
          </a:p>
        </p:txBody>
      </p:sp>
      <p:sp>
        <p:nvSpPr>
          <p:cNvPr id="35" name="TextBox 56"/>
          <p:cNvSpPr/>
          <p:nvPr/>
        </p:nvSpPr>
        <p:spPr>
          <a:xfrm>
            <a:off x="3270250" y="2816672"/>
            <a:ext cx="2603500" cy="1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冻结评估 · Git · Rubric</a:t>
            </a:r>
            <a:endParaRPr lang="en-US" sz="825" dirty="0"/>
          </a:p>
        </p:txBody>
      </p:sp>
      <p:sp>
        <p:nvSpPr>
          <p:cNvPr id="36" name="Shape 59"/>
          <p:cNvSpPr/>
          <p:nvPr/>
        </p:nvSpPr>
        <p:spPr>
          <a:xfrm>
            <a:off x="6064250" y="2327722"/>
            <a:ext cx="2603500" cy="651322"/>
          </a:xfrm>
          <a:prstGeom prst="rect">
            <a:avLst/>
          </a:prstGeom>
          <a:noFill/>
          <a:ln/>
        </p:spPr>
      </p:sp>
      <p:pic>
        <p:nvPicPr>
          <p:cNvPr id="37" name="Picture 59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64250" y="2327722"/>
            <a:ext cx="2603500" cy="651322"/>
          </a:xfrm>
          <a:prstGeom prst="rect">
            <a:avLst/>
          </a:prstGeom>
        </p:spPr>
      </p:pic>
      <p:sp>
        <p:nvSpPr>
          <p:cNvPr id="38" name="TextBox 61"/>
          <p:cNvSpPr/>
          <p:nvPr/>
        </p:nvSpPr>
        <p:spPr>
          <a:xfrm>
            <a:off x="6064250" y="2426147"/>
            <a:ext cx="2603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105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525" dirty="0"/>
          </a:p>
        </p:txBody>
      </p:sp>
      <p:sp>
        <p:nvSpPr>
          <p:cNvPr id="39" name="TextBox 63"/>
          <p:cNvSpPr/>
          <p:nvPr/>
        </p:nvSpPr>
        <p:spPr>
          <a:xfrm>
            <a:off x="6064250" y="2559497"/>
            <a:ext cx="2603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收束与行动</a:t>
            </a:r>
            <a:endParaRPr lang="en-US" sz="1200" dirty="0"/>
          </a:p>
        </p:txBody>
      </p:sp>
      <p:sp>
        <p:nvSpPr>
          <p:cNvPr id="40" name="TextBox 65"/>
          <p:cNvSpPr/>
          <p:nvPr/>
        </p:nvSpPr>
        <p:spPr>
          <a:xfrm>
            <a:off x="6064250" y="2816672"/>
            <a:ext cx="2603500" cy="16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最小闭环优先</a:t>
            </a:r>
            <a:endParaRPr lang="en-US" sz="825" dirty="0"/>
          </a:p>
        </p:txBody>
      </p:sp>
      <p:sp>
        <p:nvSpPr>
          <p:cNvPr id="41" name="Shape 69"/>
          <p:cNvSpPr/>
          <p:nvPr/>
        </p:nvSpPr>
        <p:spPr>
          <a:xfrm>
            <a:off x="476250" y="3064768"/>
            <a:ext cx="8191500" cy="339973"/>
          </a:xfrm>
          <a:prstGeom prst="rect">
            <a:avLst/>
          </a:prstGeom>
          <a:solidFill>
            <a:srgbClr val="C04A1A">
              <a:alpha val="10000"/>
            </a:srgbClr>
          </a:solidFill>
          <a:ln/>
        </p:spPr>
      </p:sp>
      <p:pic>
        <p:nvPicPr>
          <p:cNvPr id="42" name="Picture 69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6250" y="3064768"/>
            <a:ext cx="8191500" cy="339973"/>
          </a:xfrm>
          <a:prstGeom prst="rect">
            <a:avLst/>
          </a:prstGeom>
        </p:spPr>
      </p:pic>
      <p:sp>
        <p:nvSpPr>
          <p:cNvPr id="43" name="TextBox 71"/>
          <p:cNvSpPr/>
          <p:nvPr/>
        </p:nvSpPr>
        <p:spPr>
          <a:xfrm>
            <a:off x="565150" y="3232696"/>
            <a:ext cx="2796084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16181D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强调本 deck 只讲架构与壁垒，不展开具体指标数字；所有评分绑定版本化 rubric。</a:t>
            </a:r>
            <a:endParaRPr lang="en-US" sz="600" dirty="0"/>
          </a:p>
        </p:txBody>
      </p:sp>
      <p:sp>
        <p:nvSpPr>
          <p:cNvPr id="44" name="TextBox 70"/>
          <p:cNvSpPr/>
          <p:nvPr/>
        </p:nvSpPr>
        <p:spPr>
          <a:xfrm>
            <a:off x="565150" y="3121918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45" name="Shape 73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46" name="Picture 73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47" name="TextBox 74"/>
          <p:cNvSpPr/>
          <p:nvPr/>
        </p:nvSpPr>
        <p:spPr>
          <a:xfrm>
            <a:off x="476250" y="4794250"/>
            <a:ext cx="267494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</a:t>
            </a:r>
            <a:endParaRPr lang="en-US" sz="488" dirty="0"/>
          </a:p>
        </p:txBody>
      </p:sp>
      <p:sp>
        <p:nvSpPr>
          <p:cNvPr id="48" name="TextBox 75"/>
          <p:cNvSpPr/>
          <p:nvPr/>
        </p:nvSpPr>
        <p:spPr>
          <a:xfrm>
            <a:off x="7909917" y="4794250"/>
            <a:ext cx="75783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Issue 01</a:t>
            </a:r>
            <a:endParaRPr lang="en-US" sz="4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8139112" y="342900"/>
            <a:ext cx="528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01</a:t>
            </a:r>
            <a:endParaRPr lang="en-US" sz="563" dirty="0"/>
          </a:p>
        </p:txBody>
      </p:sp>
      <p:sp>
        <p:nvSpPr>
          <p:cNvPr id="8" name="TextBox 10"/>
          <p:cNvSpPr/>
          <p:nvPr/>
        </p:nvSpPr>
        <p:spPr>
          <a:xfrm>
            <a:off x="476250" y="1524149"/>
            <a:ext cx="8191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spc="247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01</a:t>
            </a:r>
            <a:endParaRPr lang="en-US" sz="825" dirty="0"/>
          </a:p>
        </p:txBody>
      </p:sp>
      <p:sp>
        <p:nvSpPr>
          <p:cNvPr id="9" name="TextBox 12"/>
          <p:cNvSpPr/>
          <p:nvPr/>
        </p:nvSpPr>
        <p:spPr>
          <a:xfrm>
            <a:off x="476250" y="1778149"/>
            <a:ext cx="8191500" cy="1078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248"/>
              </a:lnSpc>
              <a:buNone/>
            </a:pPr>
            <a:r>
              <a:rPr lang="en-US" sz="3600" b="1" dirty="0">
                <a:solidFill>
                  <a:srgbClr val="F1F0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把科学实验</a:t>
            </a:r>
            <a:endParaRPr lang="en-US" sz="3600" dirty="0"/>
          </a:p>
          <a:p>
            <a:pPr algn="l" indent="0" marL="0">
              <a:lnSpc>
                <a:spcPts val="4248"/>
              </a:lnSpc>
              <a:buNone/>
            </a:pPr>
            <a:r>
              <a:rPr lang="en-US" sz="3600" b="1" dirty="0">
                <a:solidFill>
                  <a:srgbClr val="F1F0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收敛成</a:t>
            </a:r>
            <a:r>
              <a:rPr lang="en-US" sz="3600" b="1" dirty="0">
                <a:solidFill>
                  <a:srgbClr val="C04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可调度系统</a:t>
            </a:r>
            <a:endParaRPr lang="en-US" sz="3600" dirty="0"/>
          </a:p>
        </p:txBody>
      </p:sp>
      <p:sp>
        <p:nvSpPr>
          <p:cNvPr id="10" name="TextBox 14"/>
          <p:cNvSpPr/>
          <p:nvPr/>
        </p:nvSpPr>
        <p:spPr>
          <a:xfrm>
            <a:off x="476250" y="2942779"/>
            <a:ext cx="81915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i="1" dirty="0">
                <a:solidFill>
                  <a:srgbClr val="F1F0EC">
                    <a:alpha val="62000"/>
                  </a:srgb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Goal · Dataset · Constraints · optional Repo → </a:t>
            </a:r>
            <a:r>
              <a:rPr lang="en-US" sz="1125" b="1" i="1" dirty="0">
                <a:solidFill>
                  <a:srgbClr val="F1F0E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Code · Metrics · Report</a:t>
            </a:r>
            <a:endParaRPr lang="en-US" sz="1125" dirty="0"/>
          </a:p>
        </p:txBody>
      </p:sp>
      <p:sp>
        <p:nvSpPr>
          <p:cNvPr id="11" name="Shape 17"/>
          <p:cNvSpPr/>
          <p:nvPr/>
        </p:nvSpPr>
        <p:spPr>
          <a:xfrm>
            <a:off x="476250" y="4384427"/>
            <a:ext cx="8191500" cy="339973"/>
          </a:xfrm>
          <a:prstGeom prst="rect">
            <a:avLst/>
          </a:prstGeom>
          <a:solidFill>
            <a:srgbClr val="C04A1A">
              <a:alpha val="14000"/>
            </a:srgbClr>
          </a:solidFill>
          <a:ln/>
        </p:spPr>
      </p:sp>
      <p:pic>
        <p:nvPicPr>
          <p:cNvPr id="12" name="Picture 17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384427"/>
            <a:ext cx="8191500" cy="339973"/>
          </a:xfrm>
          <a:prstGeom prst="rect">
            <a:avLst/>
          </a:prstGeom>
        </p:spPr>
      </p:pic>
      <p:sp>
        <p:nvSpPr>
          <p:cNvPr id="13" name="TextBox 19"/>
          <p:cNvSpPr/>
          <p:nvPr/>
        </p:nvSpPr>
        <p:spPr>
          <a:xfrm>
            <a:off x="565150" y="4552355"/>
            <a:ext cx="3034060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F1F0EC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问题定义页：输入 G/D/C/R，输出代码、配置、指标、消融与报告。先保证单机 ML 闭环。</a:t>
            </a:r>
            <a:endParaRPr lang="en-US" sz="600" dirty="0"/>
          </a:p>
        </p:txBody>
      </p:sp>
      <p:sp>
        <p:nvSpPr>
          <p:cNvPr id="14" name="TextBox 18"/>
          <p:cNvSpPr/>
          <p:nvPr/>
        </p:nvSpPr>
        <p:spPr>
          <a:xfrm>
            <a:off x="565150" y="4441577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15" name="Shape 21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16" name="Picture 21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17" name="TextBox 22"/>
          <p:cNvSpPr/>
          <p:nvPr/>
        </p:nvSpPr>
        <p:spPr>
          <a:xfrm>
            <a:off x="476250" y="4794250"/>
            <a:ext cx="31204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divider</a:t>
            </a:r>
            <a:endParaRPr lang="en-US" sz="488" dirty="0"/>
          </a:p>
        </p:txBody>
      </p:sp>
      <p:sp>
        <p:nvSpPr>
          <p:cNvPr id="18" name="TextBox 23"/>
          <p:cNvSpPr/>
          <p:nvPr/>
        </p:nvSpPr>
        <p:spPr>
          <a:xfrm>
            <a:off x="7909917" y="4794250"/>
            <a:ext cx="75783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Issue 01</a:t>
            </a:r>
            <a:endParaRPr lang="en-US" sz="4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8139112" y="342900"/>
            <a:ext cx="528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01</a:t>
            </a:r>
            <a:endParaRPr lang="en-US" sz="563" dirty="0"/>
          </a:p>
        </p:txBody>
      </p:sp>
      <p:sp>
        <p:nvSpPr>
          <p:cNvPr id="8" name="Shape 8"/>
          <p:cNvSpPr/>
          <p:nvPr/>
        </p:nvSpPr>
        <p:spPr>
          <a:xfrm>
            <a:off x="476250" y="688975"/>
            <a:ext cx="209550" cy="19050"/>
          </a:xfrm>
          <a:prstGeom prst="rect">
            <a:avLst/>
          </a:prstGeom>
          <a:solidFill>
            <a:srgbClr val="C04A1A"/>
          </a:solidFill>
          <a:ln/>
        </p:spPr>
      </p:sp>
      <p:sp>
        <p:nvSpPr>
          <p:cNvPr id="9" name="TextBox 8"/>
          <p:cNvSpPr/>
          <p:nvPr/>
        </p:nvSpPr>
        <p:spPr>
          <a:xfrm>
            <a:off x="476250" y="688975"/>
            <a:ext cx="8191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 DEFINITION</a:t>
            </a:r>
            <a:endParaRPr lang="en-US" sz="563" dirty="0"/>
          </a:p>
        </p:txBody>
      </p:sp>
      <p:sp>
        <p:nvSpPr>
          <p:cNvPr id="10" name="TextBox 10"/>
          <p:cNvSpPr/>
          <p:nvPr/>
        </p:nvSpPr>
        <p:spPr>
          <a:xfrm>
            <a:off x="476250" y="898525"/>
            <a:ext cx="8191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最小闭环：从任务到</a:t>
            </a:r>
            <a:r>
              <a:rPr lang="en-US" sz="2100" b="1" dirty="0">
                <a:solidFill>
                  <a:srgbClr val="C04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可复现结果</a:t>
            </a:r>
            <a:endParaRPr lang="en-US" sz="2100" dirty="0"/>
          </a:p>
        </p:txBody>
      </p:sp>
      <p:sp>
        <p:nvSpPr>
          <p:cNvPr id="11" name="Shape 14"/>
          <p:cNvSpPr/>
          <p:nvPr/>
        </p:nvSpPr>
        <p:spPr>
          <a:xfrm>
            <a:off x="476250" y="1403350"/>
            <a:ext cx="4010025" cy="1356916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12" name="TextBox 16"/>
          <p:cNvSpPr/>
          <p:nvPr/>
        </p:nvSpPr>
        <p:spPr>
          <a:xfrm>
            <a:off x="650875" y="1558925"/>
            <a:ext cx="36607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105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</a:t>
            </a:r>
            <a:endParaRPr lang="en-US" sz="525" dirty="0"/>
          </a:p>
        </p:txBody>
      </p:sp>
      <p:sp>
        <p:nvSpPr>
          <p:cNvPr id="13" name="TextBox 18"/>
          <p:cNvSpPr/>
          <p:nvPr/>
        </p:nvSpPr>
        <p:spPr>
          <a:xfrm>
            <a:off x="650875" y="1720850"/>
            <a:ext cx="3660775" cy="883841"/>
          </a:xfrm>
          <a:prstGeom prst="rect">
            <a:avLst/>
          </a:prstGeom>
          <a:noFill/>
          <a:ln/>
        </p:spPr>
        <p:txBody>
          <a:bodyPr wrap="square" lIns="0" tIns="133350" rIns="0" bIns="0" rtlCol="0" anchor="t">
            <a:spAutoFit/>
          </a:bodyPr>
          <a:lstStyle/>
          <a:p>
            <a:pPr algn="l" marL="0" indent="0">
              <a:lnSpc>
                <a:spcPts val="1665"/>
              </a:lnSpc>
              <a:buSzPct val="100000"/>
              <a:buChar char="•"/>
            </a:pP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​</a:t>
            </a: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优化目标 </a:t>
            </a:r>
            <a:r>
              <a:rPr lang="en-US" sz="900" dirty="0">
                <a:solidFill>
                  <a:srgbClr val="1618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</a:t>
            </a:r>
            <a:endParaRPr lang="en-US" sz="900" dirty="0"/>
          </a:p>
          <a:p>
            <a:pPr algn="l" marL="0" indent="0">
              <a:lnSpc>
                <a:spcPts val="1665"/>
              </a:lnSpc>
              <a:buSzPct val="100000"/>
              <a:buChar char="•"/>
            </a:pP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​</a:t>
            </a: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数据集 </a:t>
            </a:r>
            <a:r>
              <a:rPr lang="en-US" sz="900" dirty="0">
                <a:solidFill>
                  <a:srgbClr val="1618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</a:t>
            </a:r>
            <a:endParaRPr lang="en-US" sz="900" dirty="0"/>
          </a:p>
          <a:p>
            <a:pPr algn="l" marL="0" indent="0">
              <a:lnSpc>
                <a:spcPts val="1665"/>
              </a:lnSpc>
              <a:buSzPct val="100000"/>
              <a:buChar char="•"/>
            </a:pP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​</a:t>
            </a: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可选约束 </a:t>
            </a:r>
            <a:r>
              <a:rPr lang="en-US" sz="900" dirty="0">
                <a:solidFill>
                  <a:srgbClr val="1618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900" dirty="0"/>
          </a:p>
          <a:p>
            <a:pPr algn="l" marL="0" indent="0">
              <a:lnSpc>
                <a:spcPts val="1665"/>
              </a:lnSpc>
              <a:buSzPct val="100000"/>
              <a:buChar char="•"/>
            </a:pP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​</a:t>
            </a: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可选初始仓库 </a:t>
            </a:r>
            <a:r>
              <a:rPr lang="en-US" sz="900" dirty="0">
                <a:solidFill>
                  <a:srgbClr val="1618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900" dirty="0"/>
          </a:p>
        </p:txBody>
      </p:sp>
      <p:sp>
        <p:nvSpPr>
          <p:cNvPr id="14" name="Shape 21"/>
          <p:cNvSpPr/>
          <p:nvPr/>
        </p:nvSpPr>
        <p:spPr>
          <a:xfrm>
            <a:off x="4657725" y="1403350"/>
            <a:ext cx="4010025" cy="1356916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15" name="TextBox 23"/>
          <p:cNvSpPr/>
          <p:nvPr/>
        </p:nvSpPr>
        <p:spPr>
          <a:xfrm>
            <a:off x="4832350" y="1558925"/>
            <a:ext cx="36607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105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525" dirty="0"/>
          </a:p>
        </p:txBody>
      </p:sp>
      <p:sp>
        <p:nvSpPr>
          <p:cNvPr id="16" name="TextBox 25"/>
          <p:cNvSpPr/>
          <p:nvPr/>
        </p:nvSpPr>
        <p:spPr>
          <a:xfrm>
            <a:off x="4832350" y="1720850"/>
            <a:ext cx="3660775" cy="845741"/>
          </a:xfrm>
          <a:prstGeom prst="rect">
            <a:avLst/>
          </a:prstGeom>
          <a:noFill/>
          <a:ln/>
        </p:spPr>
        <p:txBody>
          <a:bodyPr wrap="square" lIns="0" tIns="133350" rIns="0" bIns="0" rtlCol="0" anchor="t">
            <a:spAutoFit/>
          </a:bodyPr>
          <a:lstStyle/>
          <a:p>
            <a:pPr algn="l" marL="0" indent="0">
              <a:lnSpc>
                <a:spcPts val="1665"/>
              </a:lnSpc>
              <a:buSzPct val="100000"/>
              <a:buChar char="•"/>
            </a:pP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​</a:t>
            </a: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可运行代码 </a:t>
            </a:r>
            <a:r>
              <a:rPr lang="en-US" sz="9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Code</a:t>
            </a:r>
            <a:endParaRPr lang="en-US" sz="900" dirty="0"/>
          </a:p>
          <a:p>
            <a:pPr algn="l" marL="0" indent="0">
              <a:lnSpc>
                <a:spcPts val="1665"/>
              </a:lnSpc>
              <a:buSzPct val="100000"/>
              <a:buChar char="•"/>
            </a:pP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​</a:t>
            </a: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可复现配置 </a:t>
            </a:r>
            <a:r>
              <a:rPr lang="en-US" sz="9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RunConfig</a:t>
            </a:r>
            <a:endParaRPr lang="en-US" sz="900" dirty="0"/>
          </a:p>
          <a:p>
            <a:pPr algn="l" marL="0" indent="0">
              <a:lnSpc>
                <a:spcPts val="1665"/>
              </a:lnSpc>
              <a:buSzPct val="100000"/>
              <a:buChar char="•"/>
            </a:pP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​</a:t>
            </a: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主/辅指标 </a:t>
            </a:r>
            <a:r>
              <a:rPr lang="en-US" sz="9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Metrics</a:t>
            </a:r>
            <a:endParaRPr lang="en-US" sz="900" dirty="0"/>
          </a:p>
          <a:p>
            <a:pPr algn="l" marL="0" indent="0">
              <a:lnSpc>
                <a:spcPts val="1665"/>
              </a:lnSpc>
              <a:buSzPct val="100000"/>
              <a:buChar char="•"/>
            </a:pP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​</a:t>
            </a: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路径 · 消融 · 分析报告</a:t>
            </a:r>
            <a:endParaRPr lang="en-US" sz="900" dirty="0"/>
          </a:p>
        </p:txBody>
      </p:sp>
      <p:sp>
        <p:nvSpPr>
          <p:cNvPr id="17" name="Shape 31"/>
          <p:cNvSpPr/>
          <p:nvPr/>
        </p:nvSpPr>
        <p:spPr>
          <a:xfrm>
            <a:off x="476250" y="2893616"/>
            <a:ext cx="4010025" cy="377825"/>
          </a:xfrm>
          <a:prstGeom prst="rect">
            <a:avLst/>
          </a:prstGeom>
          <a:noFill/>
          <a:ln/>
        </p:spPr>
      </p:sp>
      <p:pic>
        <p:nvPicPr>
          <p:cNvPr id="18" name="Picture 31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2893616"/>
            <a:ext cx="4010025" cy="377825"/>
          </a:xfrm>
          <a:prstGeom prst="rect">
            <a:avLst/>
          </a:prstGeom>
        </p:spPr>
      </p:pic>
      <p:sp>
        <p:nvSpPr>
          <p:cNvPr id="19" name="TextBox 33"/>
          <p:cNvSpPr/>
          <p:nvPr/>
        </p:nvSpPr>
        <p:spPr>
          <a:xfrm>
            <a:off x="476250" y="2979341"/>
            <a:ext cx="4010025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78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01</a:t>
            </a:r>
            <a:endParaRPr lang="en-US" sz="488" dirty="0"/>
          </a:p>
        </p:txBody>
      </p:sp>
      <p:sp>
        <p:nvSpPr>
          <p:cNvPr id="20" name="TextBox 35"/>
          <p:cNvSpPr/>
          <p:nvPr/>
        </p:nvSpPr>
        <p:spPr>
          <a:xfrm>
            <a:off x="476250" y="3099991"/>
            <a:ext cx="40100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机器学习任务 · 单机 CPU/GPU 可跑通</a:t>
            </a:r>
            <a:endParaRPr lang="en-US" sz="900" dirty="0"/>
          </a:p>
        </p:txBody>
      </p:sp>
      <p:sp>
        <p:nvSpPr>
          <p:cNvPr id="21" name="Shape 38"/>
          <p:cNvSpPr/>
          <p:nvPr/>
        </p:nvSpPr>
        <p:spPr>
          <a:xfrm>
            <a:off x="4657725" y="2893616"/>
            <a:ext cx="4010025" cy="377825"/>
          </a:xfrm>
          <a:prstGeom prst="rect">
            <a:avLst/>
          </a:prstGeom>
          <a:noFill/>
          <a:ln/>
        </p:spPr>
      </p:sp>
      <p:pic>
        <p:nvPicPr>
          <p:cNvPr id="22" name="Picture 38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7725" y="2893616"/>
            <a:ext cx="4010025" cy="377825"/>
          </a:xfrm>
          <a:prstGeom prst="rect">
            <a:avLst/>
          </a:prstGeom>
        </p:spPr>
      </p:pic>
      <p:sp>
        <p:nvSpPr>
          <p:cNvPr id="23" name="TextBox 40"/>
          <p:cNvSpPr/>
          <p:nvPr/>
        </p:nvSpPr>
        <p:spPr>
          <a:xfrm>
            <a:off x="4657725" y="2979341"/>
            <a:ext cx="4010025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78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02</a:t>
            </a:r>
            <a:endParaRPr lang="en-US" sz="488" dirty="0"/>
          </a:p>
        </p:txBody>
      </p:sp>
      <p:sp>
        <p:nvSpPr>
          <p:cNvPr id="24" name="TextBox 42"/>
          <p:cNvSpPr/>
          <p:nvPr/>
        </p:nvSpPr>
        <p:spPr>
          <a:xfrm>
            <a:off x="4657725" y="3099991"/>
            <a:ext cx="40100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天文数据处理 · 只加领域配置 / 工具 / rubric</a:t>
            </a:r>
            <a:endParaRPr lang="en-US" sz="900" dirty="0"/>
          </a:p>
        </p:txBody>
      </p:sp>
      <p:sp>
        <p:nvSpPr>
          <p:cNvPr id="25" name="Shape 46"/>
          <p:cNvSpPr/>
          <p:nvPr/>
        </p:nvSpPr>
        <p:spPr>
          <a:xfrm>
            <a:off x="476250" y="3357166"/>
            <a:ext cx="8191500" cy="339973"/>
          </a:xfrm>
          <a:prstGeom prst="rect">
            <a:avLst/>
          </a:prstGeom>
          <a:solidFill>
            <a:srgbClr val="C04A1A">
              <a:alpha val="10000"/>
            </a:srgbClr>
          </a:solidFill>
          <a:ln/>
        </p:spPr>
      </p:sp>
      <p:pic>
        <p:nvPicPr>
          <p:cNvPr id="26" name="Picture 46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250" y="3357166"/>
            <a:ext cx="8191500" cy="339973"/>
          </a:xfrm>
          <a:prstGeom prst="rect">
            <a:avLst/>
          </a:prstGeom>
        </p:spPr>
      </p:pic>
      <p:sp>
        <p:nvSpPr>
          <p:cNvPr id="27" name="TextBox 48"/>
          <p:cNvSpPr/>
          <p:nvPr/>
        </p:nvSpPr>
        <p:spPr>
          <a:xfrm>
            <a:off x="565150" y="3525094"/>
            <a:ext cx="2667694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16181D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第二阶段不复制新框架；领域扩展 = 配置 + 工具 + 评分准则，不是第二套系统。</a:t>
            </a:r>
            <a:endParaRPr lang="en-US" sz="600" dirty="0"/>
          </a:p>
        </p:txBody>
      </p:sp>
      <p:sp>
        <p:nvSpPr>
          <p:cNvPr id="28" name="TextBox 47"/>
          <p:cNvSpPr/>
          <p:nvPr/>
        </p:nvSpPr>
        <p:spPr>
          <a:xfrm>
            <a:off x="565150" y="3414316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29" name="Shape 50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30" name="Picture 50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31" name="TextBox 51"/>
          <p:cNvSpPr/>
          <p:nvPr/>
        </p:nvSpPr>
        <p:spPr>
          <a:xfrm>
            <a:off x="476250" y="4794250"/>
            <a:ext cx="75783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 · problem</a:t>
            </a:r>
            <a:endParaRPr lang="en-US" sz="488" dirty="0"/>
          </a:p>
        </p:txBody>
      </p:sp>
      <p:sp>
        <p:nvSpPr>
          <p:cNvPr id="32" name="TextBox 52"/>
          <p:cNvSpPr/>
          <p:nvPr/>
        </p:nvSpPr>
        <p:spPr>
          <a:xfrm>
            <a:off x="7909917" y="4794250"/>
            <a:ext cx="75783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Issue 01</a:t>
            </a:r>
            <a:endParaRPr lang="en-US" sz="4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8139112" y="342900"/>
            <a:ext cx="528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02</a:t>
            </a:r>
            <a:endParaRPr lang="en-US" sz="563" dirty="0"/>
          </a:p>
        </p:txBody>
      </p:sp>
      <p:sp>
        <p:nvSpPr>
          <p:cNvPr id="8" name="Shape 8"/>
          <p:cNvSpPr/>
          <p:nvPr/>
        </p:nvSpPr>
        <p:spPr>
          <a:xfrm>
            <a:off x="476250" y="688975"/>
            <a:ext cx="209550" cy="19050"/>
          </a:xfrm>
          <a:prstGeom prst="rect">
            <a:avLst/>
          </a:prstGeom>
          <a:solidFill>
            <a:srgbClr val="C04A1A"/>
          </a:solidFill>
          <a:ln/>
        </p:spPr>
      </p:sp>
      <p:sp>
        <p:nvSpPr>
          <p:cNvPr id="9" name="TextBox 8"/>
          <p:cNvSpPr/>
          <p:nvPr/>
        </p:nvSpPr>
        <p:spPr>
          <a:xfrm>
            <a:off x="476250" y="688975"/>
            <a:ext cx="8191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ARCHITECTURE</a:t>
            </a:r>
            <a:endParaRPr lang="en-US" sz="563" dirty="0"/>
          </a:p>
        </p:txBody>
      </p:sp>
      <p:sp>
        <p:nvSpPr>
          <p:cNvPr id="10" name="TextBox 10"/>
          <p:cNvSpPr/>
          <p:nvPr/>
        </p:nvSpPr>
        <p:spPr>
          <a:xfrm>
            <a:off x="476250" y="898525"/>
            <a:ext cx="8191500" cy="384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只保留</a:t>
            </a:r>
            <a:r>
              <a:rPr lang="en-US" sz="2100" b="1" dirty="0">
                <a:solidFill>
                  <a:srgbClr val="C04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四个</a:t>
            </a:r>
            <a:r>
              <a:rPr lang="en-US" sz="21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清晰平面</a:t>
            </a:r>
            <a:endParaRPr lang="en-US" sz="2100" dirty="0"/>
          </a:p>
        </p:txBody>
      </p:sp>
      <p:sp>
        <p:nvSpPr>
          <p:cNvPr id="11" name="Shape 14"/>
          <p:cNvSpPr/>
          <p:nvPr/>
        </p:nvSpPr>
        <p:spPr>
          <a:xfrm>
            <a:off x="476250" y="1473200"/>
            <a:ext cx="1962150" cy="1619250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12" name="TextBox 16"/>
          <p:cNvSpPr/>
          <p:nvPr/>
        </p:nvSpPr>
        <p:spPr>
          <a:xfrm>
            <a:off x="593725" y="1609725"/>
            <a:ext cx="172720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88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CONTROL</a:t>
            </a:r>
            <a:endParaRPr lang="en-US" sz="488" dirty="0"/>
          </a:p>
        </p:txBody>
      </p:sp>
      <p:sp>
        <p:nvSpPr>
          <p:cNvPr id="13" name="TextBox 18"/>
          <p:cNvSpPr/>
          <p:nvPr/>
        </p:nvSpPr>
        <p:spPr>
          <a:xfrm>
            <a:off x="593725" y="1749425"/>
            <a:ext cx="172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Scheduler</a:t>
            </a:r>
            <a:endParaRPr lang="en-US" sz="1050" dirty="0"/>
          </a:p>
        </p:txBody>
      </p:sp>
      <p:sp>
        <p:nvSpPr>
          <p:cNvPr id="14" name="TextBox 20"/>
          <p:cNvSpPr/>
          <p:nvPr/>
        </p:nvSpPr>
        <p:spPr>
          <a:xfrm>
            <a:off x="593725" y="2006600"/>
            <a:ext cx="17272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推进 Session 阶段；调度 Agent / 工具 / 实验；预算、重试、并发与 Human-in-Loop。</a:t>
            </a:r>
            <a:endParaRPr lang="en-US" sz="825" dirty="0"/>
          </a:p>
        </p:txBody>
      </p:sp>
      <p:sp>
        <p:nvSpPr>
          <p:cNvPr id="15" name="Shape 23"/>
          <p:cNvSpPr/>
          <p:nvPr/>
        </p:nvSpPr>
        <p:spPr>
          <a:xfrm>
            <a:off x="2552700" y="1473200"/>
            <a:ext cx="1962150" cy="1619250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16" name="TextBox 25"/>
          <p:cNvSpPr/>
          <p:nvPr/>
        </p:nvSpPr>
        <p:spPr>
          <a:xfrm>
            <a:off x="2670175" y="1609725"/>
            <a:ext cx="172720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88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STRATEGY</a:t>
            </a:r>
            <a:endParaRPr lang="en-US" sz="488" dirty="0"/>
          </a:p>
        </p:txBody>
      </p:sp>
      <p:sp>
        <p:nvSpPr>
          <p:cNvPr id="17" name="TextBox 27"/>
          <p:cNvSpPr/>
          <p:nvPr/>
        </p:nvSpPr>
        <p:spPr>
          <a:xfrm>
            <a:off x="2670175" y="1749425"/>
            <a:ext cx="172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18" name="TextBox 29"/>
          <p:cNvSpPr/>
          <p:nvPr/>
        </p:nvSpPr>
        <p:spPr>
          <a:xfrm>
            <a:off x="2670175" y="2006600"/>
            <a:ext cx="17272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限制 CodeAgent 与 FixProtocol 修改边界；审查 Git diff，保护评估完整性。</a:t>
            </a:r>
            <a:endParaRPr lang="en-US" sz="825" dirty="0"/>
          </a:p>
        </p:txBody>
      </p:sp>
      <p:sp>
        <p:nvSpPr>
          <p:cNvPr id="19" name="Shape 32"/>
          <p:cNvSpPr/>
          <p:nvPr/>
        </p:nvSpPr>
        <p:spPr>
          <a:xfrm>
            <a:off x="4629150" y="1473200"/>
            <a:ext cx="1962150" cy="1619250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20" name="TextBox 34"/>
          <p:cNvSpPr/>
          <p:nvPr/>
        </p:nvSpPr>
        <p:spPr>
          <a:xfrm>
            <a:off x="4746625" y="1609725"/>
            <a:ext cx="172720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88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EXECUTION</a:t>
            </a:r>
            <a:endParaRPr lang="en-US" sz="488" dirty="0"/>
          </a:p>
        </p:txBody>
      </p:sp>
      <p:sp>
        <p:nvSpPr>
          <p:cNvPr id="21" name="TextBox 36"/>
          <p:cNvSpPr/>
          <p:nvPr/>
        </p:nvSpPr>
        <p:spPr>
          <a:xfrm>
            <a:off x="4746625" y="1749425"/>
            <a:ext cx="172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Thread + Sandbox</a:t>
            </a:r>
            <a:endParaRPr lang="en-US" sz="1050" dirty="0"/>
          </a:p>
        </p:txBody>
      </p:sp>
      <p:sp>
        <p:nvSpPr>
          <p:cNvPr id="22" name="TextBox 38"/>
          <p:cNvSpPr/>
          <p:nvPr/>
        </p:nvSpPr>
        <p:spPr>
          <a:xfrm>
            <a:off x="4746625" y="2006600"/>
            <a:ext cx="17272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ThreadManager 管 Thread / Turn / Event；SandboxRuntime 跑代码与 evaluator。</a:t>
            </a:r>
            <a:endParaRPr lang="en-US" sz="825" dirty="0"/>
          </a:p>
        </p:txBody>
      </p:sp>
      <p:sp>
        <p:nvSpPr>
          <p:cNvPr id="23" name="Shape 41"/>
          <p:cNvSpPr/>
          <p:nvPr/>
        </p:nvSpPr>
        <p:spPr>
          <a:xfrm>
            <a:off x="6705600" y="1473200"/>
            <a:ext cx="1962150" cy="1619250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24" name="TextBox 43"/>
          <p:cNvSpPr/>
          <p:nvPr/>
        </p:nvSpPr>
        <p:spPr>
          <a:xfrm>
            <a:off x="6823075" y="1609725"/>
            <a:ext cx="172720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88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FACTS</a:t>
            </a:r>
            <a:endParaRPr lang="en-US" sz="488" dirty="0"/>
          </a:p>
        </p:txBody>
      </p:sp>
      <p:sp>
        <p:nvSpPr>
          <p:cNvPr id="25" name="TextBox 45"/>
          <p:cNvSpPr/>
          <p:nvPr/>
        </p:nvSpPr>
        <p:spPr>
          <a:xfrm>
            <a:off x="6823075" y="1749425"/>
            <a:ext cx="172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State · Artifact · Git</a:t>
            </a:r>
            <a:endParaRPr lang="en-US" sz="1050" dirty="0"/>
          </a:p>
        </p:txBody>
      </p:sp>
      <p:sp>
        <p:nvSpPr>
          <p:cNvPr id="26" name="TextBox 47"/>
          <p:cNvSpPr/>
          <p:nvPr/>
        </p:nvSpPr>
        <p:spPr>
          <a:xfrm>
            <a:off x="6823075" y="2006600"/>
            <a:ext cx="1727200" cy="335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小状态进 StateStore；大对象 artifact 引用；代码历史只交给 Git。</a:t>
            </a:r>
            <a:endParaRPr lang="en-US" sz="825" dirty="0"/>
          </a:p>
        </p:txBody>
      </p:sp>
      <p:sp>
        <p:nvSpPr>
          <p:cNvPr id="27" name="Shape 51"/>
          <p:cNvSpPr/>
          <p:nvPr/>
        </p:nvSpPr>
        <p:spPr>
          <a:xfrm>
            <a:off x="476250" y="3178175"/>
            <a:ext cx="8191500" cy="339973"/>
          </a:xfrm>
          <a:prstGeom prst="rect">
            <a:avLst/>
          </a:prstGeom>
          <a:solidFill>
            <a:srgbClr val="C04A1A">
              <a:alpha val="10000"/>
            </a:srgbClr>
          </a:solidFill>
          <a:ln/>
        </p:spPr>
      </p:sp>
      <p:pic>
        <p:nvPicPr>
          <p:cNvPr id="28" name="Picture 51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3178175"/>
            <a:ext cx="8191500" cy="339973"/>
          </a:xfrm>
          <a:prstGeom prst="rect">
            <a:avLst/>
          </a:prstGeom>
        </p:spPr>
      </p:pic>
      <p:sp>
        <p:nvSpPr>
          <p:cNvPr id="29" name="TextBox 53"/>
          <p:cNvSpPr/>
          <p:nvPr/>
        </p:nvSpPr>
        <p:spPr>
          <a:xfrm>
            <a:off x="565150" y="3346103"/>
            <a:ext cx="3234333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16181D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一句话：一个工作流控制面、一个事实存储层、一个代码版本系统——不建第二套 checkpoint。</a:t>
            </a:r>
            <a:endParaRPr lang="en-US" sz="600" dirty="0"/>
          </a:p>
        </p:txBody>
      </p:sp>
      <p:sp>
        <p:nvSpPr>
          <p:cNvPr id="30" name="TextBox 52"/>
          <p:cNvSpPr/>
          <p:nvPr/>
        </p:nvSpPr>
        <p:spPr>
          <a:xfrm>
            <a:off x="565150" y="3235325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31" name="Shape 55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32" name="Picture 55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33" name="TextBox 56"/>
          <p:cNvSpPr/>
          <p:nvPr/>
        </p:nvSpPr>
        <p:spPr>
          <a:xfrm>
            <a:off x="476250" y="4794250"/>
            <a:ext cx="980728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 · architecture</a:t>
            </a:r>
            <a:endParaRPr lang="en-US" sz="488" dirty="0"/>
          </a:p>
        </p:txBody>
      </p:sp>
      <p:sp>
        <p:nvSpPr>
          <p:cNvPr id="34" name="TextBox 57"/>
          <p:cNvSpPr/>
          <p:nvPr/>
        </p:nvSpPr>
        <p:spPr>
          <a:xfrm>
            <a:off x="7909917" y="4794250"/>
            <a:ext cx="75783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Issue 01</a:t>
            </a:r>
            <a:endParaRPr lang="en-US" sz="4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8139112" y="342900"/>
            <a:ext cx="528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02</a:t>
            </a:r>
            <a:endParaRPr lang="en-US" sz="563" dirty="0"/>
          </a:p>
        </p:txBody>
      </p:sp>
      <p:sp>
        <p:nvSpPr>
          <p:cNvPr id="8" name="TextBox 10"/>
          <p:cNvSpPr/>
          <p:nvPr/>
        </p:nvSpPr>
        <p:spPr>
          <a:xfrm>
            <a:off x="476250" y="1466701"/>
            <a:ext cx="8191500" cy="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168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PRINCIPLE</a:t>
            </a:r>
            <a:endParaRPr lang="en-US" sz="600" dirty="0"/>
          </a:p>
        </p:txBody>
      </p:sp>
      <p:sp>
        <p:nvSpPr>
          <p:cNvPr id="9" name="TextBox 12"/>
          <p:cNvSpPr/>
          <p:nvPr/>
        </p:nvSpPr>
        <p:spPr>
          <a:xfrm>
            <a:off x="476250" y="1641326"/>
            <a:ext cx="8191500" cy="10001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500" b="1" dirty="0">
                <a:solidFill>
                  <a:srgbClr val="C04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 / 1 / 1</a:t>
            </a:r>
            <a:endParaRPr lang="en-US" sz="7500" dirty="0"/>
          </a:p>
        </p:txBody>
      </p:sp>
      <p:sp>
        <p:nvSpPr>
          <p:cNvPr id="10" name="TextBox 14"/>
          <p:cNvSpPr/>
          <p:nvPr/>
        </p:nvSpPr>
        <p:spPr>
          <a:xfrm>
            <a:off x="476250" y="2736701"/>
            <a:ext cx="819150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1F0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一个控制面 · 一个事实层 · 一套代码版本</a:t>
            </a:r>
            <a:endParaRPr lang="en-US" sz="1350" dirty="0"/>
          </a:p>
        </p:txBody>
      </p:sp>
      <p:sp>
        <p:nvSpPr>
          <p:cNvPr id="11" name="TextBox 16"/>
          <p:cNvSpPr/>
          <p:nvPr/>
        </p:nvSpPr>
        <p:spPr>
          <a:xfrm>
            <a:off x="476250" y="3047851"/>
            <a:ext cx="8191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75" i="1" dirty="0">
                <a:solidFill>
                  <a:srgbClr val="F1F0EC">
                    <a:alpha val="62000"/>
                  </a:srgb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能用确定性 Service 的，</a:t>
            </a:r>
            <a:r>
              <a:rPr lang="en-US" sz="975" b="1" i="1" dirty="0">
                <a:solidFill>
                  <a:srgbClr val="F1F0E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不启 Agent</a:t>
            </a:r>
            <a:r>
              <a:rPr lang="en-US" sz="975" i="1" dirty="0">
                <a:solidFill>
                  <a:srgbClr val="F1F0EC">
                    <a:alpha val="62000"/>
                  </a:srgb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· 先最小闭环，再 Elo / 复杂搜索</a:t>
            </a:r>
            <a:endParaRPr lang="en-US" sz="975" dirty="0"/>
          </a:p>
        </p:txBody>
      </p:sp>
      <p:sp>
        <p:nvSpPr>
          <p:cNvPr id="12" name="Shape 19"/>
          <p:cNvSpPr/>
          <p:nvPr/>
        </p:nvSpPr>
        <p:spPr>
          <a:xfrm>
            <a:off x="476250" y="4384427"/>
            <a:ext cx="8191500" cy="339973"/>
          </a:xfrm>
          <a:prstGeom prst="rect">
            <a:avLst/>
          </a:prstGeom>
          <a:solidFill>
            <a:srgbClr val="C04A1A">
              <a:alpha val="14000"/>
            </a:srgbClr>
          </a:solidFill>
          <a:ln/>
        </p:spPr>
      </p:sp>
      <p:pic>
        <p:nvPicPr>
          <p:cNvPr id="13" name="Picture 19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384427"/>
            <a:ext cx="8191500" cy="339973"/>
          </a:xfrm>
          <a:prstGeom prst="rect">
            <a:avLst/>
          </a:prstGeom>
        </p:spPr>
      </p:pic>
      <p:sp>
        <p:nvSpPr>
          <p:cNvPr id="14" name="TextBox 21"/>
          <p:cNvSpPr/>
          <p:nvPr/>
        </p:nvSpPr>
        <p:spPr>
          <a:xfrm>
            <a:off x="565150" y="4552355"/>
            <a:ext cx="2889448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F1F0EC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奥卡姆：独立上下文、工具权限、多轮推理或并发才启动 Agent；状态只存必要字段。</a:t>
            </a:r>
            <a:endParaRPr lang="en-US" sz="600" dirty="0"/>
          </a:p>
        </p:txBody>
      </p:sp>
      <p:sp>
        <p:nvSpPr>
          <p:cNvPr id="15" name="TextBox 20"/>
          <p:cNvSpPr/>
          <p:nvPr/>
        </p:nvSpPr>
        <p:spPr>
          <a:xfrm>
            <a:off x="565150" y="4441577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16" name="Shape 23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17" name="Picture 23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18" name="TextBox 24"/>
          <p:cNvSpPr/>
          <p:nvPr/>
        </p:nvSpPr>
        <p:spPr>
          <a:xfrm>
            <a:off x="476250" y="4794250"/>
            <a:ext cx="490389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· hero</a:t>
            </a:r>
            <a:endParaRPr lang="en-US" sz="488" dirty="0"/>
          </a:p>
        </p:txBody>
      </p:sp>
      <p:sp>
        <p:nvSpPr>
          <p:cNvPr id="19" name="TextBox 25"/>
          <p:cNvSpPr/>
          <p:nvPr/>
        </p:nvSpPr>
        <p:spPr>
          <a:xfrm>
            <a:off x="7909917" y="4794250"/>
            <a:ext cx="75783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Issue 01</a:t>
            </a:r>
            <a:endParaRPr lang="en-US" sz="4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8139112" y="342900"/>
            <a:ext cx="528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03</a:t>
            </a:r>
            <a:endParaRPr lang="en-US" sz="563" dirty="0"/>
          </a:p>
        </p:txBody>
      </p:sp>
      <p:sp>
        <p:nvSpPr>
          <p:cNvPr id="8" name="Shape 8"/>
          <p:cNvSpPr/>
          <p:nvPr/>
        </p:nvSpPr>
        <p:spPr>
          <a:xfrm>
            <a:off x="476250" y="688975"/>
            <a:ext cx="209550" cy="19050"/>
          </a:xfrm>
          <a:prstGeom prst="rect">
            <a:avLst/>
          </a:prstGeom>
          <a:solidFill>
            <a:srgbClr val="C04A1A"/>
          </a:solidFill>
          <a:ln/>
        </p:spPr>
      </p:sp>
      <p:sp>
        <p:nvSpPr>
          <p:cNvPr id="9" name="TextBox 8"/>
          <p:cNvSpPr/>
          <p:nvPr/>
        </p:nvSpPr>
        <p:spPr>
          <a:xfrm>
            <a:off x="476250" y="688975"/>
            <a:ext cx="8191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WORKFLOW · END TO END</a:t>
            </a:r>
            <a:endParaRPr lang="en-US" sz="563" dirty="0"/>
          </a:p>
        </p:txBody>
      </p:sp>
      <p:sp>
        <p:nvSpPr>
          <p:cNvPr id="10" name="TextBox 10"/>
          <p:cNvSpPr/>
          <p:nvPr/>
        </p:nvSpPr>
        <p:spPr>
          <a:xfrm>
            <a:off x="476250" y="898525"/>
            <a:ext cx="8191500" cy="384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四段流水线，异步推进</a:t>
            </a:r>
            <a:endParaRPr lang="en-US" sz="2100" dirty="0"/>
          </a:p>
        </p:txBody>
      </p:sp>
      <p:sp>
        <p:nvSpPr>
          <p:cNvPr id="11" name="Shape 14"/>
          <p:cNvSpPr/>
          <p:nvPr/>
        </p:nvSpPr>
        <p:spPr>
          <a:xfrm>
            <a:off x="476250" y="1473200"/>
            <a:ext cx="1976437" cy="972939"/>
          </a:xfrm>
          <a:prstGeom prst="rect">
            <a:avLst/>
          </a:prstGeom>
          <a:noFill/>
          <a:ln/>
        </p:spPr>
      </p:sp>
      <p:pic>
        <p:nvPicPr>
          <p:cNvPr id="12" name="Picture 1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473200"/>
            <a:ext cx="1976437" cy="972939"/>
          </a:xfrm>
          <a:prstGeom prst="rect">
            <a:avLst/>
          </a:prstGeom>
        </p:spPr>
      </p:pic>
      <p:sp>
        <p:nvSpPr>
          <p:cNvPr id="13" name="TextBox 16"/>
          <p:cNvSpPr/>
          <p:nvPr/>
        </p:nvSpPr>
        <p:spPr>
          <a:xfrm>
            <a:off x="514350" y="1590675"/>
            <a:ext cx="19002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84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</a:t>
            </a:r>
            <a:endParaRPr lang="en-US" sz="525" dirty="0"/>
          </a:p>
        </p:txBody>
      </p:sp>
      <p:sp>
        <p:nvSpPr>
          <p:cNvPr id="14" name="TextBox 18"/>
          <p:cNvSpPr/>
          <p:nvPr/>
        </p:nvSpPr>
        <p:spPr>
          <a:xfrm>
            <a:off x="514350" y="1733550"/>
            <a:ext cx="1900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准备</a:t>
            </a:r>
            <a:endParaRPr lang="en-US" sz="1050" dirty="0"/>
          </a:p>
        </p:txBody>
      </p:sp>
      <p:sp>
        <p:nvSpPr>
          <p:cNvPr id="15" name="TextBox 20"/>
          <p:cNvSpPr/>
          <p:nvPr/>
        </p:nvSpPr>
        <p:spPr>
          <a:xfrm>
            <a:off x="514350" y="1981200"/>
            <a:ext cx="1900238" cy="309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TaskParser · Dataset · Sampling · DataAgent · 冻结 Evaluator · Baseline</a:t>
            </a:r>
            <a:endParaRPr lang="en-US" sz="788" dirty="0"/>
          </a:p>
        </p:txBody>
      </p:sp>
      <p:sp>
        <p:nvSpPr>
          <p:cNvPr id="16" name="Shape 23"/>
          <p:cNvSpPr/>
          <p:nvPr/>
        </p:nvSpPr>
        <p:spPr>
          <a:xfrm>
            <a:off x="2547938" y="1473200"/>
            <a:ext cx="1976437" cy="972939"/>
          </a:xfrm>
          <a:prstGeom prst="rect">
            <a:avLst/>
          </a:prstGeom>
          <a:noFill/>
          <a:ln/>
        </p:spPr>
      </p:sp>
      <p:pic>
        <p:nvPicPr>
          <p:cNvPr id="17" name="Picture 23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47938" y="1473200"/>
            <a:ext cx="1976437" cy="972939"/>
          </a:xfrm>
          <a:prstGeom prst="rect">
            <a:avLst/>
          </a:prstGeom>
        </p:spPr>
      </p:pic>
      <p:sp>
        <p:nvSpPr>
          <p:cNvPr id="18" name="TextBox 25"/>
          <p:cNvSpPr/>
          <p:nvPr/>
        </p:nvSpPr>
        <p:spPr>
          <a:xfrm>
            <a:off x="2586038" y="1590675"/>
            <a:ext cx="19002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84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SEARCH</a:t>
            </a:r>
            <a:endParaRPr lang="en-US" sz="525" dirty="0"/>
          </a:p>
        </p:txBody>
      </p:sp>
      <p:sp>
        <p:nvSpPr>
          <p:cNvPr id="19" name="TextBox 27"/>
          <p:cNvSpPr/>
          <p:nvPr/>
        </p:nvSpPr>
        <p:spPr>
          <a:xfrm>
            <a:off x="2586038" y="1733550"/>
            <a:ext cx="1900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搜索</a:t>
            </a:r>
            <a:endParaRPr lang="en-US" sz="1050" dirty="0"/>
          </a:p>
        </p:txBody>
      </p:sp>
      <p:sp>
        <p:nvSpPr>
          <p:cNvPr id="20" name="TextBox 29"/>
          <p:cNvSpPr/>
          <p:nvPr/>
        </p:nvSpPr>
        <p:spPr>
          <a:xfrm>
            <a:off x="2586038" y="1981200"/>
            <a:ext cx="1900238" cy="464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ResearchAgent · 假设选择 · Supervisor · CodeAgent · Git · Sandbox · 冻结评估</a:t>
            </a:r>
            <a:endParaRPr lang="en-US" sz="788" dirty="0"/>
          </a:p>
        </p:txBody>
      </p:sp>
      <p:sp>
        <p:nvSpPr>
          <p:cNvPr id="21" name="Shape 32"/>
          <p:cNvSpPr/>
          <p:nvPr/>
        </p:nvSpPr>
        <p:spPr>
          <a:xfrm>
            <a:off x="4619625" y="1473200"/>
            <a:ext cx="1976437" cy="972939"/>
          </a:xfrm>
          <a:prstGeom prst="rect">
            <a:avLst/>
          </a:prstGeom>
          <a:noFill/>
          <a:ln/>
        </p:spPr>
      </p:sp>
      <p:pic>
        <p:nvPicPr>
          <p:cNvPr id="22" name="Picture 32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9625" y="1473200"/>
            <a:ext cx="1976437" cy="972939"/>
          </a:xfrm>
          <a:prstGeom prst="rect">
            <a:avLst/>
          </a:prstGeom>
        </p:spPr>
      </p:pic>
      <p:sp>
        <p:nvSpPr>
          <p:cNvPr id="23" name="TextBox 34"/>
          <p:cNvSpPr/>
          <p:nvPr/>
        </p:nvSpPr>
        <p:spPr>
          <a:xfrm>
            <a:off x="4657725" y="1590675"/>
            <a:ext cx="19002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84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</a:t>
            </a:r>
            <a:endParaRPr lang="en-US" sz="525" dirty="0"/>
          </a:p>
        </p:txBody>
      </p:sp>
      <p:sp>
        <p:nvSpPr>
          <p:cNvPr id="24" name="TextBox 36"/>
          <p:cNvSpPr/>
          <p:nvPr/>
        </p:nvSpPr>
        <p:spPr>
          <a:xfrm>
            <a:off x="4657725" y="1733550"/>
            <a:ext cx="1900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验证</a:t>
            </a:r>
            <a:endParaRPr lang="en-US" sz="1050" dirty="0"/>
          </a:p>
        </p:txBody>
      </p:sp>
      <p:sp>
        <p:nvSpPr>
          <p:cNvPr id="25" name="TextBox 38"/>
          <p:cNvSpPr/>
          <p:nvPr/>
        </p:nvSpPr>
        <p:spPr>
          <a:xfrm>
            <a:off x="4657725" y="1981200"/>
            <a:ext cx="1900238" cy="309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Replication · Ablation · Final Untouched Test</a:t>
            </a:r>
            <a:endParaRPr lang="en-US" sz="788" dirty="0"/>
          </a:p>
        </p:txBody>
      </p:sp>
      <p:sp>
        <p:nvSpPr>
          <p:cNvPr id="26" name="Shape 41"/>
          <p:cNvSpPr/>
          <p:nvPr/>
        </p:nvSpPr>
        <p:spPr>
          <a:xfrm>
            <a:off x="6691313" y="1473200"/>
            <a:ext cx="1976437" cy="972939"/>
          </a:xfrm>
          <a:prstGeom prst="rect">
            <a:avLst/>
          </a:prstGeom>
          <a:noFill/>
          <a:ln/>
        </p:spPr>
      </p:sp>
      <p:pic>
        <p:nvPicPr>
          <p:cNvPr id="27" name="Picture 41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91313" y="1473200"/>
            <a:ext cx="1976437" cy="972939"/>
          </a:xfrm>
          <a:prstGeom prst="rect">
            <a:avLst/>
          </a:prstGeom>
        </p:spPr>
      </p:pic>
      <p:sp>
        <p:nvSpPr>
          <p:cNvPr id="28" name="TextBox 43"/>
          <p:cNvSpPr/>
          <p:nvPr/>
        </p:nvSpPr>
        <p:spPr>
          <a:xfrm>
            <a:off x="6729413" y="1590675"/>
            <a:ext cx="19002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5" spc="84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</a:t>
            </a:r>
            <a:endParaRPr lang="en-US" sz="525" dirty="0"/>
          </a:p>
        </p:txBody>
      </p:sp>
      <p:sp>
        <p:nvSpPr>
          <p:cNvPr id="29" name="TextBox 45"/>
          <p:cNvSpPr/>
          <p:nvPr/>
        </p:nvSpPr>
        <p:spPr>
          <a:xfrm>
            <a:off x="6729413" y="1733550"/>
            <a:ext cx="1900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报告</a:t>
            </a:r>
            <a:endParaRPr lang="en-US" sz="1050" dirty="0"/>
          </a:p>
        </p:txBody>
      </p:sp>
      <p:sp>
        <p:nvSpPr>
          <p:cNvPr id="30" name="TextBox 47"/>
          <p:cNvSpPr/>
          <p:nvPr/>
        </p:nvSpPr>
        <p:spPr>
          <a:xfrm>
            <a:off x="6729413" y="1981200"/>
            <a:ext cx="1900238" cy="309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Evidence Aggregation · Final Report · 中文仅后处理生成</a:t>
            </a:r>
            <a:endParaRPr lang="en-US" sz="788" dirty="0"/>
          </a:p>
        </p:txBody>
      </p:sp>
      <p:sp>
        <p:nvSpPr>
          <p:cNvPr id="31" name="Shape 51"/>
          <p:cNvSpPr/>
          <p:nvPr/>
        </p:nvSpPr>
        <p:spPr>
          <a:xfrm>
            <a:off x="476250" y="2617589"/>
            <a:ext cx="8191500" cy="423515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32" name="TextBox 53"/>
          <p:cNvSpPr/>
          <p:nvPr/>
        </p:nvSpPr>
        <p:spPr>
          <a:xfrm>
            <a:off x="612775" y="2735064"/>
            <a:ext cx="791845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异步约定：</a:t>
            </a:r>
            <a:r>
              <a:rPr lang="en-US" sz="90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整套框架异步执行；Prompt 与 Pydantic description 统一英文，中文只在报告后处理阶段生成。</a:t>
            </a:r>
            <a:endParaRPr lang="en-US" sz="900" dirty="0"/>
          </a:p>
        </p:txBody>
      </p:sp>
      <p:sp>
        <p:nvSpPr>
          <p:cNvPr id="33" name="Shape 56"/>
          <p:cNvSpPr/>
          <p:nvPr/>
        </p:nvSpPr>
        <p:spPr>
          <a:xfrm>
            <a:off x="476250" y="3126829"/>
            <a:ext cx="8191500" cy="339973"/>
          </a:xfrm>
          <a:prstGeom prst="rect">
            <a:avLst/>
          </a:prstGeom>
          <a:solidFill>
            <a:srgbClr val="C04A1A">
              <a:alpha val="10000"/>
            </a:srgbClr>
          </a:solidFill>
          <a:ln/>
        </p:spPr>
      </p:sp>
      <p:pic>
        <p:nvPicPr>
          <p:cNvPr id="34" name="Picture 56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6250" y="3126829"/>
            <a:ext cx="8191500" cy="339973"/>
          </a:xfrm>
          <a:prstGeom prst="rect">
            <a:avLst/>
          </a:prstGeom>
        </p:spPr>
      </p:pic>
      <p:sp>
        <p:nvSpPr>
          <p:cNvPr id="35" name="TextBox 58"/>
          <p:cNvSpPr/>
          <p:nvPr/>
        </p:nvSpPr>
        <p:spPr>
          <a:xfrm>
            <a:off x="565150" y="3294757"/>
            <a:ext cx="2791619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16181D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SEARCH 环是主战场：假设 → 代码 → 沙箱 → 冻结评估；Supervisor 全程卡边界。</a:t>
            </a:r>
            <a:endParaRPr lang="en-US" sz="600" dirty="0"/>
          </a:p>
        </p:txBody>
      </p:sp>
      <p:sp>
        <p:nvSpPr>
          <p:cNvPr id="36" name="TextBox 57"/>
          <p:cNvSpPr/>
          <p:nvPr/>
        </p:nvSpPr>
        <p:spPr>
          <a:xfrm>
            <a:off x="565150" y="3183979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37" name="Shape 60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38" name="Picture 60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39" name="TextBox 61"/>
          <p:cNvSpPr/>
          <p:nvPr/>
        </p:nvSpPr>
        <p:spPr>
          <a:xfrm>
            <a:off x="476250" y="4794250"/>
            <a:ext cx="802432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 · pipeline</a:t>
            </a:r>
            <a:endParaRPr lang="en-US" sz="488" dirty="0"/>
          </a:p>
        </p:txBody>
      </p:sp>
      <p:sp>
        <p:nvSpPr>
          <p:cNvPr id="40" name="TextBox 62"/>
          <p:cNvSpPr/>
          <p:nvPr/>
        </p:nvSpPr>
        <p:spPr>
          <a:xfrm>
            <a:off x="7909917" y="4794250"/>
            <a:ext cx="75783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Issue 01</a:t>
            </a:r>
            <a:endParaRPr lang="en-US" sz="4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8139112" y="342900"/>
            <a:ext cx="528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03</a:t>
            </a:r>
            <a:endParaRPr lang="en-US" sz="563" dirty="0"/>
          </a:p>
        </p:txBody>
      </p:sp>
      <p:sp>
        <p:nvSpPr>
          <p:cNvPr id="8" name="Shape 8"/>
          <p:cNvSpPr/>
          <p:nvPr/>
        </p:nvSpPr>
        <p:spPr>
          <a:xfrm>
            <a:off x="476250" y="688975"/>
            <a:ext cx="209550" cy="19050"/>
          </a:xfrm>
          <a:prstGeom prst="rect">
            <a:avLst/>
          </a:prstGeom>
          <a:solidFill>
            <a:srgbClr val="C04A1A"/>
          </a:solidFill>
          <a:ln/>
        </p:spPr>
      </p:sp>
      <p:sp>
        <p:nvSpPr>
          <p:cNvPr id="9" name="TextBox 8"/>
          <p:cNvSpPr/>
          <p:nvPr/>
        </p:nvSpPr>
        <p:spPr>
          <a:xfrm>
            <a:off x="476250" y="688975"/>
            <a:ext cx="8191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CAPABILITIES</a:t>
            </a:r>
            <a:endParaRPr lang="en-US" sz="563" dirty="0"/>
          </a:p>
        </p:txBody>
      </p:sp>
      <p:sp>
        <p:nvSpPr>
          <p:cNvPr id="10" name="TextBox 10"/>
          <p:cNvSpPr/>
          <p:nvPr/>
        </p:nvSpPr>
        <p:spPr>
          <a:xfrm>
            <a:off x="476250" y="889000"/>
            <a:ext cx="819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功能模块：从数据到代码闭环</a:t>
            </a:r>
            <a:endParaRPr lang="en-US" sz="1950" dirty="0"/>
          </a:p>
        </p:txBody>
      </p:sp>
      <p:sp>
        <p:nvSpPr>
          <p:cNvPr id="11" name="Shape 14"/>
          <p:cNvSpPr/>
          <p:nvPr/>
        </p:nvSpPr>
        <p:spPr>
          <a:xfrm>
            <a:off x="476250" y="1397000"/>
            <a:ext cx="2660650" cy="900509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12" name="TextBox 16"/>
          <p:cNvSpPr/>
          <p:nvPr/>
        </p:nvSpPr>
        <p:spPr>
          <a:xfrm>
            <a:off x="593725" y="1514475"/>
            <a:ext cx="242570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78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</a:t>
            </a:r>
            <a:endParaRPr lang="en-US" sz="488" dirty="0"/>
          </a:p>
        </p:txBody>
      </p:sp>
      <p:sp>
        <p:nvSpPr>
          <p:cNvPr id="13" name="TextBox 18"/>
          <p:cNvSpPr/>
          <p:nvPr/>
        </p:nvSpPr>
        <p:spPr>
          <a:xfrm>
            <a:off x="593725" y="1644650"/>
            <a:ext cx="2425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数据分析闭环</a:t>
            </a:r>
            <a:endParaRPr lang="en-US" sz="975" dirty="0"/>
          </a:p>
        </p:txBody>
      </p:sp>
      <p:sp>
        <p:nvSpPr>
          <p:cNvPr id="14" name="TextBox 20"/>
          <p:cNvSpPr/>
          <p:nvPr/>
        </p:nvSpPr>
        <p:spPr>
          <a:xfrm>
            <a:off x="593725" y="1870075"/>
            <a:ext cx="2425700" cy="309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清洗 · 3 次随机抽样 · 工具交互防爆上下文 · PlotAgent 回填 EDA</a:t>
            </a:r>
            <a:endParaRPr lang="en-US" sz="788" dirty="0"/>
          </a:p>
        </p:txBody>
      </p:sp>
      <p:sp>
        <p:nvSpPr>
          <p:cNvPr id="15" name="Shape 23"/>
          <p:cNvSpPr/>
          <p:nvPr/>
        </p:nvSpPr>
        <p:spPr>
          <a:xfrm>
            <a:off x="3241675" y="1397000"/>
            <a:ext cx="2660650" cy="900509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16" name="TextBox 25"/>
          <p:cNvSpPr/>
          <p:nvPr/>
        </p:nvSpPr>
        <p:spPr>
          <a:xfrm>
            <a:off x="3359150" y="1514475"/>
            <a:ext cx="242570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78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IDEA</a:t>
            </a:r>
            <a:endParaRPr lang="en-US" sz="488" dirty="0"/>
          </a:p>
        </p:txBody>
      </p:sp>
      <p:sp>
        <p:nvSpPr>
          <p:cNvPr id="17" name="TextBox 27"/>
          <p:cNvSpPr/>
          <p:nvPr/>
        </p:nvSpPr>
        <p:spPr>
          <a:xfrm>
            <a:off x="3359150" y="1644650"/>
            <a:ext cx="2425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假设生成</a:t>
            </a:r>
            <a:endParaRPr lang="en-US" sz="975" dirty="0"/>
          </a:p>
        </p:txBody>
      </p:sp>
      <p:sp>
        <p:nvSpPr>
          <p:cNvPr id="18" name="TextBox 29"/>
          <p:cNvSpPr/>
          <p:nvPr/>
        </p:nvSpPr>
        <p:spPr>
          <a:xfrm>
            <a:off x="3359150" y="1870075"/>
            <a:ext cx="2425700" cy="309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论文 RAG（PDF→MD）· HypoTree · Elo 纯算法排序 · Proximity Graph</a:t>
            </a:r>
            <a:endParaRPr lang="en-US" sz="788" dirty="0"/>
          </a:p>
        </p:txBody>
      </p:sp>
      <p:sp>
        <p:nvSpPr>
          <p:cNvPr id="19" name="Shape 32"/>
          <p:cNvSpPr/>
          <p:nvPr/>
        </p:nvSpPr>
        <p:spPr>
          <a:xfrm>
            <a:off x="6007100" y="1397000"/>
            <a:ext cx="2660650" cy="900509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20" name="TextBox 34"/>
          <p:cNvSpPr/>
          <p:nvPr/>
        </p:nvSpPr>
        <p:spPr>
          <a:xfrm>
            <a:off x="6124575" y="1514475"/>
            <a:ext cx="242570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78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</a:t>
            </a:r>
            <a:endParaRPr lang="en-US" sz="488" dirty="0"/>
          </a:p>
        </p:txBody>
      </p:sp>
      <p:sp>
        <p:nvSpPr>
          <p:cNvPr id="21" name="TextBox 36"/>
          <p:cNvSpPr/>
          <p:nvPr/>
        </p:nvSpPr>
        <p:spPr>
          <a:xfrm>
            <a:off x="6124575" y="1644650"/>
            <a:ext cx="2425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代码与实验</a:t>
            </a:r>
            <a:endParaRPr lang="en-US" sz="975" dirty="0"/>
          </a:p>
        </p:txBody>
      </p:sp>
      <p:sp>
        <p:nvSpPr>
          <p:cNvPr id="22" name="TextBox 38"/>
          <p:cNvSpPr/>
          <p:nvPr/>
        </p:nvSpPr>
        <p:spPr>
          <a:xfrm>
            <a:off x="6124575" y="1870075"/>
            <a:ext cx="2425700" cy="309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Qoder / Codex 接入 · ExpCkptTree · 可选 HITL / Debug · AgentMonitor</a:t>
            </a:r>
            <a:endParaRPr lang="en-US" sz="788" dirty="0"/>
          </a:p>
        </p:txBody>
      </p:sp>
      <p:sp>
        <p:nvSpPr>
          <p:cNvPr id="23" name="Shape 41"/>
          <p:cNvSpPr/>
          <p:nvPr/>
        </p:nvSpPr>
        <p:spPr>
          <a:xfrm>
            <a:off x="476250" y="2402284"/>
            <a:ext cx="2660650" cy="900509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24" name="TextBox 43"/>
          <p:cNvSpPr/>
          <p:nvPr/>
        </p:nvSpPr>
        <p:spPr>
          <a:xfrm>
            <a:off x="593725" y="2519760"/>
            <a:ext cx="242570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78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endParaRPr lang="en-US" sz="488" dirty="0"/>
          </a:p>
        </p:txBody>
      </p:sp>
      <p:sp>
        <p:nvSpPr>
          <p:cNvPr id="25" name="TextBox 45"/>
          <p:cNvSpPr/>
          <p:nvPr/>
        </p:nvSpPr>
        <p:spPr>
          <a:xfrm>
            <a:off x="593725" y="2649934"/>
            <a:ext cx="2425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Thread 模型</a:t>
            </a:r>
            <a:endParaRPr lang="en-US" sz="975" dirty="0"/>
          </a:p>
        </p:txBody>
      </p:sp>
      <p:sp>
        <p:nvSpPr>
          <p:cNvPr id="26" name="TextBox 47"/>
          <p:cNvSpPr/>
          <p:nvPr/>
        </p:nvSpPr>
        <p:spPr>
          <a:xfrm>
            <a:off x="593725" y="2875359"/>
            <a:ext cx="2425700" cy="309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Thread → Turn → Event · 单 Thread 单 Turn · 并发靠多 Thread · fork 不污染父历史</a:t>
            </a:r>
            <a:endParaRPr lang="en-US" sz="788" dirty="0"/>
          </a:p>
        </p:txBody>
      </p:sp>
      <p:sp>
        <p:nvSpPr>
          <p:cNvPr id="27" name="Shape 50"/>
          <p:cNvSpPr/>
          <p:nvPr/>
        </p:nvSpPr>
        <p:spPr>
          <a:xfrm>
            <a:off x="3241675" y="2402284"/>
            <a:ext cx="2660650" cy="900509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28" name="TextBox 52"/>
          <p:cNvSpPr/>
          <p:nvPr/>
        </p:nvSpPr>
        <p:spPr>
          <a:xfrm>
            <a:off x="3359150" y="2519760"/>
            <a:ext cx="242570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78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</a:t>
            </a:r>
            <a:endParaRPr lang="en-US" sz="488" dirty="0"/>
          </a:p>
        </p:txBody>
      </p:sp>
      <p:sp>
        <p:nvSpPr>
          <p:cNvPr id="29" name="TextBox 54"/>
          <p:cNvSpPr/>
          <p:nvPr/>
        </p:nvSpPr>
        <p:spPr>
          <a:xfrm>
            <a:off x="3359150" y="2649934"/>
            <a:ext cx="2425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外部工具</a:t>
            </a:r>
            <a:endParaRPr lang="en-US" sz="975" dirty="0"/>
          </a:p>
        </p:txBody>
      </p:sp>
      <p:sp>
        <p:nvSpPr>
          <p:cNvPr id="30" name="TextBox 56"/>
          <p:cNvSpPr/>
          <p:nvPr/>
        </p:nvSpPr>
        <p:spPr>
          <a:xfrm>
            <a:off x="3359150" y="2875359"/>
            <a:ext cx="2425700" cy="309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Kaggle MCP 精选 tools · HF 固定 revision · 默认 trust_remote_code=False</a:t>
            </a:r>
            <a:endParaRPr lang="en-US" sz="788" dirty="0"/>
          </a:p>
        </p:txBody>
      </p:sp>
      <p:sp>
        <p:nvSpPr>
          <p:cNvPr id="31" name="Shape 59"/>
          <p:cNvSpPr/>
          <p:nvPr/>
        </p:nvSpPr>
        <p:spPr>
          <a:xfrm>
            <a:off x="6007100" y="2402284"/>
            <a:ext cx="2660650" cy="900509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32" name="TextBox 61"/>
          <p:cNvSpPr/>
          <p:nvPr/>
        </p:nvSpPr>
        <p:spPr>
          <a:xfrm>
            <a:off x="6124575" y="2519760"/>
            <a:ext cx="242570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78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</a:t>
            </a:r>
            <a:endParaRPr lang="en-US" sz="488" dirty="0"/>
          </a:p>
        </p:txBody>
      </p:sp>
      <p:sp>
        <p:nvSpPr>
          <p:cNvPr id="33" name="TextBox 63"/>
          <p:cNvSpPr/>
          <p:nvPr/>
        </p:nvSpPr>
        <p:spPr>
          <a:xfrm>
            <a:off x="6124575" y="2649934"/>
            <a:ext cx="2425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评估与报告</a:t>
            </a:r>
            <a:endParaRPr lang="en-US" sz="975" dirty="0"/>
          </a:p>
        </p:txBody>
      </p:sp>
      <p:sp>
        <p:nvSpPr>
          <p:cNvPr id="34" name="TextBox 65"/>
          <p:cNvSpPr/>
          <p:nvPr/>
        </p:nvSpPr>
        <p:spPr>
          <a:xfrm>
            <a:off x="6124575" y="2875359"/>
            <a:ext cx="2425700" cy="154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版本化 rubric · 逐项证据 · 证据聚合 → 最终报告</a:t>
            </a:r>
            <a:endParaRPr lang="en-US" sz="788" dirty="0"/>
          </a:p>
        </p:txBody>
      </p:sp>
      <p:sp>
        <p:nvSpPr>
          <p:cNvPr id="35" name="Shape 69"/>
          <p:cNvSpPr/>
          <p:nvPr/>
        </p:nvSpPr>
        <p:spPr>
          <a:xfrm>
            <a:off x="476250" y="3388519"/>
            <a:ext cx="8191500" cy="339973"/>
          </a:xfrm>
          <a:prstGeom prst="rect">
            <a:avLst/>
          </a:prstGeom>
          <a:solidFill>
            <a:srgbClr val="C04A1A">
              <a:alpha val="10000"/>
            </a:srgbClr>
          </a:solidFill>
          <a:ln/>
        </p:spPr>
      </p:sp>
      <p:pic>
        <p:nvPicPr>
          <p:cNvPr id="36" name="Picture 69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3388519"/>
            <a:ext cx="8191500" cy="339973"/>
          </a:xfrm>
          <a:prstGeom prst="rect">
            <a:avLst/>
          </a:prstGeom>
        </p:spPr>
      </p:pic>
      <p:sp>
        <p:nvSpPr>
          <p:cNvPr id="37" name="TextBox 71"/>
          <p:cNvSpPr/>
          <p:nvPr/>
        </p:nvSpPr>
        <p:spPr>
          <a:xfrm>
            <a:off x="565150" y="3556447"/>
            <a:ext cx="3223965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16181D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DataAnalysis 必须走工具；大表不能塞进上下文。画图 sub-agent 可同步回灌或仅作终稿美化。</a:t>
            </a:r>
            <a:endParaRPr lang="en-US" sz="600" dirty="0"/>
          </a:p>
        </p:txBody>
      </p:sp>
      <p:sp>
        <p:nvSpPr>
          <p:cNvPr id="38" name="TextBox 70"/>
          <p:cNvSpPr/>
          <p:nvPr/>
        </p:nvSpPr>
        <p:spPr>
          <a:xfrm>
            <a:off x="565150" y="3445669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39" name="Shape 73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40" name="Picture 73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41" name="TextBox 74"/>
          <p:cNvSpPr/>
          <p:nvPr/>
        </p:nvSpPr>
        <p:spPr>
          <a:xfrm>
            <a:off x="476250" y="4794250"/>
            <a:ext cx="713234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layout · modules</a:t>
            </a:r>
            <a:endParaRPr lang="en-US" sz="488" dirty="0"/>
          </a:p>
        </p:txBody>
      </p:sp>
      <p:sp>
        <p:nvSpPr>
          <p:cNvPr id="42" name="TextBox 75"/>
          <p:cNvSpPr/>
          <p:nvPr/>
        </p:nvSpPr>
        <p:spPr>
          <a:xfrm>
            <a:off x="7909917" y="4794250"/>
            <a:ext cx="75783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Issue 01</a:t>
            </a:r>
            <a:endParaRPr lang="en-US" sz="48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8139112" y="342900"/>
            <a:ext cx="528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04</a:t>
            </a:r>
            <a:endParaRPr lang="en-US" sz="563" dirty="0"/>
          </a:p>
        </p:txBody>
      </p:sp>
      <p:pic>
        <p:nvPicPr>
          <p:cNvPr id="8" name="Picture 10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686421"/>
            <a:ext cx="342900" cy="266700"/>
          </a:xfrm>
          <a:prstGeom prst="rect">
            <a:avLst/>
          </a:prstGeom>
        </p:spPr>
      </p:pic>
      <p:sp>
        <p:nvSpPr>
          <p:cNvPr id="9" name="TextBox 12"/>
          <p:cNvSpPr/>
          <p:nvPr/>
        </p:nvSpPr>
        <p:spPr>
          <a:xfrm>
            <a:off x="476250" y="2086471"/>
            <a:ext cx="7239000" cy="773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F1F0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所有评分、排序、通过与拒绝，都必须绑定</a:t>
            </a:r>
            <a:r>
              <a:rPr lang="en-US" sz="2100" b="1" dirty="0">
                <a:solidFill>
                  <a:srgbClr val="C04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版本化 rubric</a:t>
            </a:r>
            <a:r>
              <a:rPr lang="en-US" sz="2100" b="1" dirty="0">
                <a:solidFill>
                  <a:srgbClr val="F1F0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——结果含逐项证据，不能只返回总分。</a:t>
            </a:r>
            <a:endParaRPr lang="en-US" sz="2100" dirty="0"/>
          </a:p>
        </p:txBody>
      </p:sp>
      <p:sp>
        <p:nvSpPr>
          <p:cNvPr id="10" name="TextBox 14"/>
          <p:cNvSpPr/>
          <p:nvPr/>
        </p:nvSpPr>
        <p:spPr>
          <a:xfrm>
            <a:off x="476250" y="3031331"/>
            <a:ext cx="7239000" cy="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08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Athena Design Spec · Scoring Invariant</a:t>
            </a:r>
            <a:endParaRPr lang="en-US" sz="600" dirty="0"/>
          </a:p>
        </p:txBody>
      </p:sp>
      <p:sp>
        <p:nvSpPr>
          <p:cNvPr id="11" name="Shape 17"/>
          <p:cNvSpPr/>
          <p:nvPr/>
        </p:nvSpPr>
        <p:spPr>
          <a:xfrm>
            <a:off x="476250" y="4384427"/>
            <a:ext cx="8191500" cy="339973"/>
          </a:xfrm>
          <a:prstGeom prst="rect">
            <a:avLst/>
          </a:prstGeom>
          <a:solidFill>
            <a:srgbClr val="C04A1A">
              <a:alpha val="14000"/>
            </a:srgbClr>
          </a:solidFill>
          <a:ln/>
        </p:spPr>
      </p:sp>
      <p:pic>
        <p:nvPicPr>
          <p:cNvPr id="12" name="Picture 17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384427"/>
            <a:ext cx="8191500" cy="339973"/>
          </a:xfrm>
          <a:prstGeom prst="rect">
            <a:avLst/>
          </a:prstGeom>
        </p:spPr>
      </p:pic>
      <p:sp>
        <p:nvSpPr>
          <p:cNvPr id="13" name="TextBox 19"/>
          <p:cNvSpPr/>
          <p:nvPr/>
        </p:nvSpPr>
        <p:spPr>
          <a:xfrm>
            <a:off x="565150" y="4552355"/>
            <a:ext cx="2764234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F1F0EC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这是评估层硬约束：无总分 = 不可审计。后续壁垒页展开冻结评估与 Supervisor。</a:t>
            </a:r>
            <a:endParaRPr lang="en-US" sz="600" dirty="0"/>
          </a:p>
        </p:txBody>
      </p:sp>
      <p:sp>
        <p:nvSpPr>
          <p:cNvPr id="14" name="TextBox 18"/>
          <p:cNvSpPr/>
          <p:nvPr/>
        </p:nvSpPr>
        <p:spPr>
          <a:xfrm>
            <a:off x="565150" y="4441577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15" name="Shape 21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16" name="Picture 21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17" name="TextBox 22"/>
          <p:cNvSpPr/>
          <p:nvPr/>
        </p:nvSpPr>
        <p:spPr>
          <a:xfrm>
            <a:off x="476250" y="4794250"/>
            <a:ext cx="222895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quote</a:t>
            </a:r>
            <a:endParaRPr lang="en-US" sz="488" dirty="0"/>
          </a:p>
        </p:txBody>
      </p:sp>
      <p:sp>
        <p:nvSpPr>
          <p:cNvPr id="18" name="TextBox 23"/>
          <p:cNvSpPr/>
          <p:nvPr/>
        </p:nvSpPr>
        <p:spPr>
          <a:xfrm>
            <a:off x="7909917" y="4794250"/>
            <a:ext cx="75783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Issue 01</a:t>
            </a:r>
            <a:endParaRPr lang="en-US" sz="48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8139112" y="342900"/>
            <a:ext cx="528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04</a:t>
            </a:r>
            <a:endParaRPr lang="en-US" sz="563" dirty="0"/>
          </a:p>
        </p:txBody>
      </p:sp>
      <p:sp>
        <p:nvSpPr>
          <p:cNvPr id="8" name="Shape 8"/>
          <p:cNvSpPr/>
          <p:nvPr/>
        </p:nvSpPr>
        <p:spPr>
          <a:xfrm>
            <a:off x="476250" y="688975"/>
            <a:ext cx="209550" cy="19050"/>
          </a:xfrm>
          <a:prstGeom prst="rect">
            <a:avLst/>
          </a:prstGeom>
          <a:solidFill>
            <a:srgbClr val="C04A1A"/>
          </a:solidFill>
          <a:ln/>
        </p:spPr>
      </p:sp>
      <p:sp>
        <p:nvSpPr>
          <p:cNvPr id="9" name="TextBox 8"/>
          <p:cNvSpPr/>
          <p:nvPr/>
        </p:nvSpPr>
        <p:spPr>
          <a:xfrm>
            <a:off x="476250" y="688975"/>
            <a:ext cx="8191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TECHNICAL MOAT</a:t>
            </a:r>
            <a:endParaRPr lang="en-US" sz="563" dirty="0"/>
          </a:p>
        </p:txBody>
      </p:sp>
      <p:sp>
        <p:nvSpPr>
          <p:cNvPr id="10" name="TextBox 10"/>
          <p:cNvSpPr/>
          <p:nvPr/>
        </p:nvSpPr>
        <p:spPr>
          <a:xfrm>
            <a:off x="476250" y="889000"/>
            <a:ext cx="819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壁垒一：评估完整性与修改边界</a:t>
            </a:r>
            <a:endParaRPr lang="en-US" sz="1950" dirty="0"/>
          </a:p>
        </p:txBody>
      </p:sp>
      <p:sp>
        <p:nvSpPr>
          <p:cNvPr id="11" name="Shape 14"/>
          <p:cNvSpPr/>
          <p:nvPr/>
        </p:nvSpPr>
        <p:spPr>
          <a:xfrm>
            <a:off x="476250" y="1397000"/>
            <a:ext cx="4019550" cy="1126728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12" name="TextBox 16"/>
          <p:cNvSpPr/>
          <p:nvPr/>
        </p:nvSpPr>
        <p:spPr>
          <a:xfrm>
            <a:off x="628650" y="1568450"/>
            <a:ext cx="371475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88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FROZEN EVALUATOR</a:t>
            </a:r>
            <a:endParaRPr lang="en-US" sz="488" dirty="0"/>
          </a:p>
        </p:txBody>
      </p:sp>
      <p:sp>
        <p:nvSpPr>
          <p:cNvPr id="13" name="TextBox 18"/>
          <p:cNvSpPr/>
          <p:nvPr/>
        </p:nvSpPr>
        <p:spPr>
          <a:xfrm>
            <a:off x="628650" y="1717675"/>
            <a:ext cx="37147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1F0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评估器提前冻结</a:t>
            </a:r>
            <a:endParaRPr lang="en-US" sz="1125" dirty="0"/>
          </a:p>
        </p:txBody>
      </p:sp>
      <p:sp>
        <p:nvSpPr>
          <p:cNvPr id="14" name="TextBox 20"/>
          <p:cNvSpPr/>
          <p:nvPr/>
        </p:nvSpPr>
        <p:spPr>
          <a:xfrm>
            <a:off x="628650" y="2000250"/>
            <a:ext cx="3714750" cy="345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825" dirty="0">
                <a:solidFill>
                  <a:srgbClr val="F1F0EC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Prepare 阶段构建并冻结 Evaluator；Search 全程用同一评估契约。CodeAgent 不得改评估逻辑以「刷分」。</a:t>
            </a:r>
            <a:endParaRPr lang="en-US" sz="825" dirty="0"/>
          </a:p>
        </p:txBody>
      </p:sp>
      <p:sp>
        <p:nvSpPr>
          <p:cNvPr id="15" name="Shape 23"/>
          <p:cNvSpPr/>
          <p:nvPr/>
        </p:nvSpPr>
        <p:spPr>
          <a:xfrm>
            <a:off x="4648200" y="1397000"/>
            <a:ext cx="4019550" cy="1126728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16" name="TextBox 25"/>
          <p:cNvSpPr/>
          <p:nvPr/>
        </p:nvSpPr>
        <p:spPr>
          <a:xfrm>
            <a:off x="4803775" y="1571625"/>
            <a:ext cx="370840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88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SUPERVISOR GATE</a:t>
            </a:r>
            <a:endParaRPr lang="en-US" sz="488" dirty="0"/>
          </a:p>
        </p:txBody>
      </p:sp>
      <p:sp>
        <p:nvSpPr>
          <p:cNvPr id="17" name="TextBox 27"/>
          <p:cNvSpPr/>
          <p:nvPr/>
        </p:nvSpPr>
        <p:spPr>
          <a:xfrm>
            <a:off x="4803775" y="1720850"/>
            <a:ext cx="37084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Supervisor 卡 diff</a:t>
            </a:r>
            <a:endParaRPr lang="en-US" sz="1125" dirty="0"/>
          </a:p>
        </p:txBody>
      </p:sp>
      <p:sp>
        <p:nvSpPr>
          <p:cNvPr id="18" name="TextBox 29"/>
          <p:cNvSpPr/>
          <p:nvPr/>
        </p:nvSpPr>
        <p:spPr>
          <a:xfrm>
            <a:off x="4803775" y="2003425"/>
            <a:ext cx="3708400" cy="345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审查 Git diff 是否越界、是否破坏评估完整性；FixProtocol 修改范围被策略平面硬限制。</a:t>
            </a:r>
            <a:endParaRPr lang="en-US" sz="825" dirty="0"/>
          </a:p>
        </p:txBody>
      </p:sp>
      <p:sp>
        <p:nvSpPr>
          <p:cNvPr id="19" name="Shape 35"/>
          <p:cNvSpPr/>
          <p:nvPr/>
        </p:nvSpPr>
        <p:spPr>
          <a:xfrm>
            <a:off x="476250" y="2657078"/>
            <a:ext cx="2654300" cy="422275"/>
          </a:xfrm>
          <a:prstGeom prst="rect">
            <a:avLst/>
          </a:prstGeom>
          <a:noFill/>
          <a:ln/>
        </p:spPr>
      </p:sp>
      <p:pic>
        <p:nvPicPr>
          <p:cNvPr id="20" name="Picture 35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2657078"/>
            <a:ext cx="2654300" cy="422275"/>
          </a:xfrm>
          <a:prstGeom prst="rect">
            <a:avLst/>
          </a:prstGeom>
        </p:spPr>
      </p:pic>
      <p:sp>
        <p:nvSpPr>
          <p:cNvPr id="21" name="TextBox 37"/>
          <p:cNvSpPr/>
          <p:nvPr/>
        </p:nvSpPr>
        <p:spPr>
          <a:xfrm>
            <a:off x="476250" y="2736453"/>
            <a:ext cx="2654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Acceptance Rule</a:t>
            </a:r>
            <a:endParaRPr lang="en-US" sz="900" dirty="0"/>
          </a:p>
        </p:txBody>
      </p:sp>
      <p:sp>
        <p:nvSpPr>
          <p:cNvPr id="22" name="TextBox 39"/>
          <p:cNvSpPr/>
          <p:nvPr/>
        </p:nvSpPr>
        <p:spPr>
          <a:xfrm>
            <a:off x="476250" y="2936478"/>
            <a:ext cx="2654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ExperimentPlan 绑定接受规则</a:t>
            </a:r>
            <a:endParaRPr lang="en-US" sz="750" dirty="0"/>
          </a:p>
        </p:txBody>
      </p:sp>
      <p:sp>
        <p:nvSpPr>
          <p:cNvPr id="23" name="Shape 42"/>
          <p:cNvSpPr/>
          <p:nvPr/>
        </p:nvSpPr>
        <p:spPr>
          <a:xfrm>
            <a:off x="3244850" y="2657078"/>
            <a:ext cx="2654300" cy="422275"/>
          </a:xfrm>
          <a:prstGeom prst="rect">
            <a:avLst/>
          </a:prstGeom>
          <a:noFill/>
          <a:ln/>
        </p:spPr>
      </p:sp>
      <p:pic>
        <p:nvPicPr>
          <p:cNvPr id="24" name="Picture 42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4850" y="2657078"/>
            <a:ext cx="2654300" cy="422275"/>
          </a:xfrm>
          <a:prstGeom prst="rect">
            <a:avLst/>
          </a:prstGeom>
        </p:spPr>
      </p:pic>
      <p:sp>
        <p:nvSpPr>
          <p:cNvPr id="25" name="TextBox 44"/>
          <p:cNvSpPr/>
          <p:nvPr/>
        </p:nvSpPr>
        <p:spPr>
          <a:xfrm>
            <a:off x="3244850" y="2736453"/>
            <a:ext cx="2654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Untouched Test</a:t>
            </a:r>
            <a:endParaRPr lang="en-US" sz="900" dirty="0"/>
          </a:p>
        </p:txBody>
      </p:sp>
      <p:sp>
        <p:nvSpPr>
          <p:cNvPr id="26" name="TextBox 46"/>
          <p:cNvSpPr/>
          <p:nvPr/>
        </p:nvSpPr>
        <p:spPr>
          <a:xfrm>
            <a:off x="3244850" y="2936478"/>
            <a:ext cx="2654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最终未触碰测试集验证</a:t>
            </a:r>
            <a:endParaRPr lang="en-US" sz="750" dirty="0"/>
          </a:p>
        </p:txBody>
      </p:sp>
      <p:sp>
        <p:nvSpPr>
          <p:cNvPr id="27" name="Shape 49"/>
          <p:cNvSpPr/>
          <p:nvPr/>
        </p:nvSpPr>
        <p:spPr>
          <a:xfrm>
            <a:off x="6013450" y="2657078"/>
            <a:ext cx="2654300" cy="422275"/>
          </a:xfrm>
          <a:prstGeom prst="rect">
            <a:avLst/>
          </a:prstGeom>
          <a:noFill/>
          <a:ln/>
        </p:spPr>
      </p:sp>
      <p:pic>
        <p:nvPicPr>
          <p:cNvPr id="28" name="Picture 49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3450" y="2657078"/>
            <a:ext cx="2654300" cy="422275"/>
          </a:xfrm>
          <a:prstGeom prst="rect">
            <a:avLst/>
          </a:prstGeom>
        </p:spPr>
      </p:pic>
      <p:sp>
        <p:nvSpPr>
          <p:cNvPr id="29" name="TextBox 51"/>
          <p:cNvSpPr/>
          <p:nvPr/>
        </p:nvSpPr>
        <p:spPr>
          <a:xfrm>
            <a:off x="6013450" y="2736453"/>
            <a:ext cx="2654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Evidence First</a:t>
            </a:r>
            <a:endParaRPr lang="en-US" sz="900" dirty="0"/>
          </a:p>
        </p:txBody>
      </p:sp>
      <p:sp>
        <p:nvSpPr>
          <p:cNvPr id="30" name="TextBox 53"/>
          <p:cNvSpPr/>
          <p:nvPr/>
        </p:nvSpPr>
        <p:spPr>
          <a:xfrm>
            <a:off x="6013450" y="2936478"/>
            <a:ext cx="2654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评分结果必须带逐项证据</a:t>
            </a:r>
            <a:endParaRPr lang="en-US" sz="750" dirty="0"/>
          </a:p>
        </p:txBody>
      </p:sp>
      <p:sp>
        <p:nvSpPr>
          <p:cNvPr id="31" name="Shape 57"/>
          <p:cNvSpPr/>
          <p:nvPr/>
        </p:nvSpPr>
        <p:spPr>
          <a:xfrm>
            <a:off x="476250" y="3165078"/>
            <a:ext cx="8191500" cy="339973"/>
          </a:xfrm>
          <a:prstGeom prst="rect">
            <a:avLst/>
          </a:prstGeom>
          <a:solidFill>
            <a:srgbClr val="C04A1A">
              <a:alpha val="10000"/>
            </a:srgbClr>
          </a:solidFill>
          <a:ln/>
        </p:spPr>
      </p:sp>
      <p:pic>
        <p:nvPicPr>
          <p:cNvPr id="32" name="Picture 5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" y="3165078"/>
            <a:ext cx="8191500" cy="339973"/>
          </a:xfrm>
          <a:prstGeom prst="rect">
            <a:avLst/>
          </a:prstGeom>
        </p:spPr>
      </p:pic>
      <p:sp>
        <p:nvSpPr>
          <p:cNvPr id="33" name="TextBox 59"/>
          <p:cNvSpPr/>
          <p:nvPr/>
        </p:nvSpPr>
        <p:spPr>
          <a:xfrm>
            <a:off x="565150" y="3333006"/>
            <a:ext cx="3124200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16181D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壁垒叙事：不是「模型更强」，而是「实验不可被自己改规则」。这是可审计科学系统的核心。</a:t>
            </a:r>
            <a:endParaRPr lang="en-US" sz="600" dirty="0"/>
          </a:p>
        </p:txBody>
      </p:sp>
      <p:sp>
        <p:nvSpPr>
          <p:cNvPr id="34" name="TextBox 58"/>
          <p:cNvSpPr/>
          <p:nvPr/>
        </p:nvSpPr>
        <p:spPr>
          <a:xfrm>
            <a:off x="565150" y="3222228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35" name="Shape 61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36" name="Picture 61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37" name="TextBox 62"/>
          <p:cNvSpPr/>
          <p:nvPr/>
        </p:nvSpPr>
        <p:spPr>
          <a:xfrm>
            <a:off x="476250" y="4794250"/>
            <a:ext cx="802432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 · barriers</a:t>
            </a:r>
            <a:endParaRPr lang="en-US" sz="488" dirty="0"/>
          </a:p>
        </p:txBody>
      </p:sp>
      <p:sp>
        <p:nvSpPr>
          <p:cNvPr id="38" name="TextBox 63"/>
          <p:cNvSpPr/>
          <p:nvPr/>
        </p:nvSpPr>
        <p:spPr>
          <a:xfrm>
            <a:off x="7909917" y="4794250"/>
            <a:ext cx="75783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Issue 01</a:t>
            </a:r>
            <a:endParaRPr lang="en-US" sz="48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8139112" y="342900"/>
            <a:ext cx="528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04</a:t>
            </a:r>
            <a:endParaRPr lang="en-US" sz="563" dirty="0"/>
          </a:p>
        </p:txBody>
      </p:sp>
      <p:sp>
        <p:nvSpPr>
          <p:cNvPr id="8" name="Shape 8"/>
          <p:cNvSpPr/>
          <p:nvPr/>
        </p:nvSpPr>
        <p:spPr>
          <a:xfrm>
            <a:off x="476250" y="688975"/>
            <a:ext cx="209550" cy="19050"/>
          </a:xfrm>
          <a:prstGeom prst="rect">
            <a:avLst/>
          </a:prstGeom>
          <a:solidFill>
            <a:srgbClr val="C04A1A"/>
          </a:solidFill>
          <a:ln/>
        </p:spPr>
      </p:sp>
      <p:sp>
        <p:nvSpPr>
          <p:cNvPr id="9" name="TextBox 8"/>
          <p:cNvSpPr/>
          <p:nvPr/>
        </p:nvSpPr>
        <p:spPr>
          <a:xfrm>
            <a:off x="476250" y="688975"/>
            <a:ext cx="8191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TECHNICAL MOAT · PARALLEL EXPERIMENTS</a:t>
            </a:r>
            <a:endParaRPr lang="en-US" sz="563" dirty="0"/>
          </a:p>
        </p:txBody>
      </p:sp>
      <p:sp>
        <p:nvSpPr>
          <p:cNvPr id="10" name="TextBox 10"/>
          <p:cNvSpPr/>
          <p:nvPr/>
        </p:nvSpPr>
        <p:spPr>
          <a:xfrm>
            <a:off x="476250" y="889000"/>
            <a:ext cx="819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壁垒二：并行实验与事实树</a:t>
            </a:r>
            <a:endParaRPr lang="en-US" sz="1950" dirty="0"/>
          </a:p>
        </p:txBody>
      </p:sp>
      <p:sp>
        <p:nvSpPr>
          <p:cNvPr id="11" name="Shape 16"/>
          <p:cNvSpPr/>
          <p:nvPr/>
        </p:nvSpPr>
        <p:spPr>
          <a:xfrm>
            <a:off x="476250" y="1397000"/>
            <a:ext cx="4411018" cy="986135"/>
          </a:xfrm>
          <a:prstGeom prst="rect">
            <a:avLst/>
          </a:prstGeom>
          <a:noFill/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12" name="TextBox 18"/>
          <p:cNvSpPr/>
          <p:nvPr/>
        </p:nvSpPr>
        <p:spPr>
          <a:xfrm>
            <a:off x="631825" y="1533525"/>
            <a:ext cx="4099868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78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WORKTREE</a:t>
            </a:r>
            <a:endParaRPr lang="en-US" sz="488" dirty="0"/>
          </a:p>
        </p:txBody>
      </p:sp>
      <p:sp>
        <p:nvSpPr>
          <p:cNvPr id="13" name="TextBox 20"/>
          <p:cNvSpPr/>
          <p:nvPr/>
        </p:nvSpPr>
        <p:spPr>
          <a:xfrm>
            <a:off x="631825" y="1663700"/>
            <a:ext cx="40998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多实验并行不冲突</a:t>
            </a:r>
            <a:endParaRPr lang="en-US" sz="1050" dirty="0"/>
          </a:p>
        </p:txBody>
      </p:sp>
      <p:sp>
        <p:nvSpPr>
          <p:cNvPr id="14" name="TextBox 22"/>
          <p:cNvSpPr/>
          <p:nvPr/>
        </p:nvSpPr>
        <p:spPr>
          <a:xfrm>
            <a:off x="631825" y="1911350"/>
            <a:ext cx="4099868" cy="335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 multi-worktree：独立工作目录 / HEAD / index，共享对象库；临时分支 + 锁机制防踩踏。</a:t>
            </a:r>
            <a:endParaRPr lang="en-US" sz="825" dirty="0"/>
          </a:p>
        </p:txBody>
      </p:sp>
      <p:sp>
        <p:nvSpPr>
          <p:cNvPr id="15" name="Shape 25"/>
          <p:cNvSpPr/>
          <p:nvPr/>
        </p:nvSpPr>
        <p:spPr>
          <a:xfrm>
            <a:off x="476250" y="2478385"/>
            <a:ext cx="4411018" cy="986135"/>
          </a:xfrm>
          <a:prstGeom prst="rect">
            <a:avLst/>
          </a:prstGeom>
          <a:noFill/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16" name="TextBox 27"/>
          <p:cNvSpPr/>
          <p:nvPr/>
        </p:nvSpPr>
        <p:spPr>
          <a:xfrm>
            <a:off x="631825" y="2614910"/>
            <a:ext cx="4099868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78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RECORD TREE</a:t>
            </a:r>
            <a:endParaRPr lang="en-US" sz="488" dirty="0"/>
          </a:p>
        </p:txBody>
      </p:sp>
      <p:sp>
        <p:nvSpPr>
          <p:cNvPr id="17" name="TextBox 29"/>
          <p:cNvSpPr/>
          <p:nvPr/>
        </p:nvSpPr>
        <p:spPr>
          <a:xfrm>
            <a:off x="631825" y="2745085"/>
            <a:ext cx="40998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统一记录树基类</a:t>
            </a:r>
            <a:endParaRPr lang="en-US" sz="1050" dirty="0"/>
          </a:p>
        </p:txBody>
      </p:sp>
      <p:sp>
        <p:nvSpPr>
          <p:cNvPr id="18" name="TextBox 31"/>
          <p:cNvSpPr/>
          <p:nvPr/>
        </p:nvSpPr>
        <p:spPr>
          <a:xfrm>
            <a:off x="631825" y="2992735"/>
            <a:ext cx="4099868" cy="335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RecordTree 多态承载 HypoTree 与 ExpCkptTree：路径回溯、失败 reverse 再分支、按 run_ref 去重。</a:t>
            </a:r>
            <a:endParaRPr lang="en-US" sz="825" dirty="0"/>
          </a:p>
        </p:txBody>
      </p:sp>
      <p:sp>
        <p:nvSpPr>
          <p:cNvPr id="19" name="Shape 35"/>
          <p:cNvSpPr/>
          <p:nvPr/>
        </p:nvSpPr>
        <p:spPr>
          <a:xfrm>
            <a:off x="5058718" y="1397000"/>
            <a:ext cx="3609033" cy="2067520"/>
          </a:xfrm>
          <a:prstGeom prst="rect">
            <a:avLst/>
          </a:prstGeom>
          <a:solidFill>
            <a:srgbClr val="FFFEFB"/>
          </a:solidFill>
          <a:ln w="3175">
            <a:solidFill>
              <a:srgbClr val="16181D">
                <a:alpha val="12000"/>
              </a:srgbClr>
            </a:solidFill>
            <a:prstDash val="solid"/>
          </a:ln>
        </p:spPr>
      </p:sp>
      <p:sp>
        <p:nvSpPr>
          <p:cNvPr id="20" name="TextBox 37"/>
          <p:cNvSpPr/>
          <p:nvPr/>
        </p:nvSpPr>
        <p:spPr>
          <a:xfrm>
            <a:off x="5195243" y="1533525"/>
            <a:ext cx="3335982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78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 NODE · STATUS</a:t>
            </a:r>
            <a:endParaRPr lang="en-US" sz="488" dirty="0"/>
          </a:p>
        </p:txBody>
      </p:sp>
      <p:sp>
        <p:nvSpPr>
          <p:cNvPr id="21" name="TextBox 41"/>
          <p:cNvSpPr/>
          <p:nvPr/>
        </p:nvSpPr>
        <p:spPr>
          <a:xfrm>
            <a:off x="5195243" y="1701800"/>
            <a:ext cx="3335982" cy="247650"/>
          </a:xfrm>
          <a:prstGeom prst="rect">
            <a:avLst/>
          </a:prstGeom>
          <a:noFill/>
          <a:ln w="3175">
            <a:solidFill>
              <a:srgbClr val="16181D">
                <a:alpha val="12000"/>
              </a:srgbClr>
            </a:solidFill>
            <a:prstDash val="solid"/>
          </a:ln>
        </p:spPr>
        <p:txBody>
          <a:bodyPr wrap="square" lIns="66675" tIns="57150" rIns="66675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618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</a:t>
            </a:r>
            <a:endParaRPr lang="en-US" sz="750" dirty="0"/>
          </a:p>
        </p:txBody>
      </p:sp>
      <p:sp>
        <p:nvSpPr>
          <p:cNvPr id="22" name="TextBox 43"/>
          <p:cNvSpPr/>
          <p:nvPr/>
        </p:nvSpPr>
        <p:spPr>
          <a:xfrm>
            <a:off x="5195243" y="2006600"/>
            <a:ext cx="3335982" cy="247650"/>
          </a:xfrm>
          <a:prstGeom prst="rect">
            <a:avLst/>
          </a:prstGeom>
          <a:noFill/>
          <a:ln w="3175">
            <a:solidFill>
              <a:srgbClr val="16181D">
                <a:alpha val="12000"/>
              </a:srgbClr>
            </a:solidFill>
            <a:prstDash val="solid"/>
          </a:ln>
        </p:spPr>
        <p:txBody>
          <a:bodyPr wrap="square" lIns="66675" tIns="57150" rIns="66675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618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RUNNING</a:t>
            </a:r>
            <a:endParaRPr lang="en-US" sz="750" dirty="0"/>
          </a:p>
        </p:txBody>
      </p:sp>
      <p:sp>
        <p:nvSpPr>
          <p:cNvPr id="23" name="TextBox 45"/>
          <p:cNvSpPr/>
          <p:nvPr/>
        </p:nvSpPr>
        <p:spPr>
          <a:xfrm>
            <a:off x="5195243" y="2311400"/>
            <a:ext cx="3335982" cy="247650"/>
          </a:xfrm>
          <a:prstGeom prst="rect">
            <a:avLst/>
          </a:prstGeom>
          <a:noFill/>
          <a:ln w="3175">
            <a:solidFill>
              <a:srgbClr val="C04A1A"/>
            </a:solidFill>
            <a:prstDash val="solid"/>
          </a:ln>
        </p:spPr>
        <p:txBody>
          <a:bodyPr wrap="square" lIns="66675" tIns="57150" rIns="66675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SUCCEEDED</a:t>
            </a:r>
            <a:endParaRPr lang="en-US" sz="750" dirty="0"/>
          </a:p>
        </p:txBody>
      </p:sp>
      <p:sp>
        <p:nvSpPr>
          <p:cNvPr id="24" name="TextBox 47"/>
          <p:cNvSpPr/>
          <p:nvPr/>
        </p:nvSpPr>
        <p:spPr>
          <a:xfrm>
            <a:off x="5195243" y="2616200"/>
            <a:ext cx="3335982" cy="247650"/>
          </a:xfrm>
          <a:prstGeom prst="rect">
            <a:avLst/>
          </a:prstGeom>
          <a:noFill/>
          <a:ln w="3175">
            <a:solidFill>
              <a:srgbClr val="16181D">
                <a:alpha val="12000"/>
              </a:srgbClr>
            </a:solidFill>
            <a:prstDash val="solid"/>
          </a:ln>
        </p:spPr>
        <p:txBody>
          <a:bodyPr wrap="square" lIns="66675" tIns="57150" rIns="66675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6181D">
                    <a:alpha val="4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FAILED · CANCELLED</a:t>
            </a:r>
            <a:endParaRPr lang="en-US" sz="750" dirty="0"/>
          </a:p>
        </p:txBody>
      </p:sp>
      <p:sp>
        <p:nvSpPr>
          <p:cNvPr id="25" name="TextBox 50"/>
          <p:cNvSpPr/>
          <p:nvPr/>
        </p:nvSpPr>
        <p:spPr>
          <a:xfrm>
            <a:off x="5195243" y="2949575"/>
            <a:ext cx="33359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6181D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节点只存 id / parent / change / commit / run_ref / result_ref——大对象一律 artifact 引用。</a:t>
            </a:r>
            <a:endParaRPr lang="en-US" sz="750" dirty="0"/>
          </a:p>
        </p:txBody>
      </p:sp>
      <p:sp>
        <p:nvSpPr>
          <p:cNvPr id="26" name="Shape 54"/>
          <p:cNvSpPr/>
          <p:nvPr/>
        </p:nvSpPr>
        <p:spPr>
          <a:xfrm>
            <a:off x="476250" y="3550246"/>
            <a:ext cx="8191500" cy="339973"/>
          </a:xfrm>
          <a:prstGeom prst="rect">
            <a:avLst/>
          </a:prstGeom>
          <a:solidFill>
            <a:srgbClr val="C04A1A">
              <a:alpha val="10000"/>
            </a:srgbClr>
          </a:solidFill>
          <a:ln/>
        </p:spPr>
      </p:sp>
      <p:pic>
        <p:nvPicPr>
          <p:cNvPr id="27" name="Picture 5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3550246"/>
            <a:ext cx="8191500" cy="339973"/>
          </a:xfrm>
          <a:prstGeom prst="rect">
            <a:avLst/>
          </a:prstGeom>
        </p:spPr>
      </p:pic>
      <p:sp>
        <p:nvSpPr>
          <p:cNvPr id="28" name="TextBox 56"/>
          <p:cNvSpPr/>
          <p:nvPr/>
        </p:nvSpPr>
        <p:spPr>
          <a:xfrm>
            <a:off x="565150" y="3718173"/>
            <a:ext cx="3210322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16181D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 snapshot 不用自定义格式，直接 Git。Elo 对假设排序是纯算法，不引入 LLM，专为提效。</a:t>
            </a:r>
            <a:endParaRPr lang="en-US" sz="600" dirty="0"/>
          </a:p>
        </p:txBody>
      </p:sp>
      <p:sp>
        <p:nvSpPr>
          <p:cNvPr id="29" name="TextBox 55"/>
          <p:cNvSpPr/>
          <p:nvPr/>
        </p:nvSpPr>
        <p:spPr>
          <a:xfrm>
            <a:off x="565150" y="3607396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30" name="Shape 58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31" name="Picture 58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32" name="TextBox 59"/>
          <p:cNvSpPr/>
          <p:nvPr/>
        </p:nvSpPr>
        <p:spPr>
          <a:xfrm>
            <a:off x="476250" y="4794250"/>
            <a:ext cx="713234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two-column · git</a:t>
            </a:r>
            <a:endParaRPr lang="en-US" sz="488" dirty="0"/>
          </a:p>
        </p:txBody>
      </p:sp>
      <p:sp>
        <p:nvSpPr>
          <p:cNvPr id="33" name="TextBox 60"/>
          <p:cNvSpPr/>
          <p:nvPr/>
        </p:nvSpPr>
        <p:spPr>
          <a:xfrm>
            <a:off x="7909917" y="4794250"/>
            <a:ext cx="75783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16181D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Issue 01</a:t>
            </a:r>
            <a:endParaRPr lang="en-US" sz="48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4" name="Shape 4"/>
          <p:cNvSpPr/>
          <p:nvPr/>
        </p:nvSpPr>
        <p:spPr>
          <a:xfrm>
            <a:off x="476250" y="342900"/>
            <a:ext cx="8191500" cy="174625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42900"/>
            <a:ext cx="8191500" cy="174625"/>
          </a:xfrm>
          <a:prstGeom prst="rect">
            <a:avLst/>
          </a:prstGeom>
        </p:spPr>
      </p:pic>
      <p:sp>
        <p:nvSpPr>
          <p:cNvPr id="6" name="TextBox 5"/>
          <p:cNvSpPr/>
          <p:nvPr/>
        </p:nvSpPr>
        <p:spPr>
          <a:xfrm>
            <a:off x="476250" y="342900"/>
            <a:ext cx="581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</a:t>
            </a:r>
            <a:r>
              <a:rPr lang="en-US" sz="563" spc="7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AI4S</a:t>
            </a:r>
            <a:endParaRPr lang="en-US" sz="563" dirty="0"/>
          </a:p>
        </p:txBody>
      </p:sp>
      <p:sp>
        <p:nvSpPr>
          <p:cNvPr id="7" name="TextBox 6"/>
          <p:cNvSpPr/>
          <p:nvPr/>
        </p:nvSpPr>
        <p:spPr>
          <a:xfrm>
            <a:off x="8509149" y="342900"/>
            <a:ext cx="1586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63" spc="7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</a:t>
            </a:r>
            <a:endParaRPr lang="en-US" sz="563" dirty="0"/>
          </a:p>
        </p:txBody>
      </p:sp>
      <p:sp>
        <p:nvSpPr>
          <p:cNvPr id="8" name="TextBox 10"/>
          <p:cNvSpPr/>
          <p:nvPr/>
        </p:nvSpPr>
        <p:spPr>
          <a:xfrm>
            <a:off x="476250" y="1361331"/>
            <a:ext cx="81915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1F0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先跑通</a:t>
            </a:r>
            <a:r>
              <a:rPr lang="en-US" sz="3300" b="1" dirty="0">
                <a:solidFill>
                  <a:srgbClr val="C04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最小闭环</a:t>
            </a:r>
            <a:endParaRPr lang="en-US" sz="3300" dirty="0"/>
          </a:p>
        </p:txBody>
      </p:sp>
      <p:sp>
        <p:nvSpPr>
          <p:cNvPr id="9" name="TextBox 12"/>
          <p:cNvSpPr/>
          <p:nvPr/>
        </p:nvSpPr>
        <p:spPr>
          <a:xfrm>
            <a:off x="476250" y="1978521"/>
            <a:ext cx="819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1F0EC">
                    <a:alpha val="62000"/>
                  </a:srgb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Prepare · Search · Validate · Report — 再扩展领域、Elo 与复杂搜索。</a:t>
            </a:r>
            <a:endParaRPr lang="en-US" sz="1050" dirty="0"/>
          </a:p>
        </p:txBody>
      </p:sp>
      <p:sp>
        <p:nvSpPr>
          <p:cNvPr id="10" name="Shape 16"/>
          <p:cNvSpPr/>
          <p:nvPr/>
        </p:nvSpPr>
        <p:spPr>
          <a:xfrm>
            <a:off x="2530971" y="2530971"/>
            <a:ext cx="1271786" cy="438150"/>
          </a:xfrm>
          <a:prstGeom prst="rect">
            <a:avLst/>
          </a:prstGeom>
          <a:noFill/>
          <a:ln/>
        </p:spPr>
      </p:sp>
      <p:pic>
        <p:nvPicPr>
          <p:cNvPr id="11" name="Picture 16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0971" y="2530971"/>
            <a:ext cx="1271786" cy="438150"/>
          </a:xfrm>
          <a:prstGeom prst="rect">
            <a:avLst/>
          </a:prstGeom>
        </p:spPr>
      </p:pic>
      <p:sp>
        <p:nvSpPr>
          <p:cNvPr id="12" name="TextBox 18"/>
          <p:cNvSpPr/>
          <p:nvPr/>
        </p:nvSpPr>
        <p:spPr>
          <a:xfrm>
            <a:off x="2530971" y="2610346"/>
            <a:ext cx="12717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0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架构可审计</a:t>
            </a:r>
            <a:endParaRPr lang="en-US" sz="975" dirty="0"/>
          </a:p>
        </p:txBody>
      </p:sp>
      <p:sp>
        <p:nvSpPr>
          <p:cNvPr id="13" name="TextBox 20"/>
          <p:cNvSpPr/>
          <p:nvPr/>
        </p:nvSpPr>
        <p:spPr>
          <a:xfrm>
            <a:off x="2530971" y="2826246"/>
            <a:ext cx="1271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1F0EC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四平面分离 · 事实可追溯</a:t>
            </a:r>
            <a:endParaRPr lang="en-US" sz="750" dirty="0"/>
          </a:p>
        </p:txBody>
      </p:sp>
      <p:sp>
        <p:nvSpPr>
          <p:cNvPr id="14" name="Shape 23"/>
          <p:cNvSpPr/>
          <p:nvPr/>
        </p:nvSpPr>
        <p:spPr>
          <a:xfrm>
            <a:off x="3936107" y="2530971"/>
            <a:ext cx="1271786" cy="438150"/>
          </a:xfrm>
          <a:prstGeom prst="rect">
            <a:avLst/>
          </a:prstGeom>
          <a:noFill/>
          <a:ln/>
        </p:spPr>
      </p:sp>
      <p:pic>
        <p:nvPicPr>
          <p:cNvPr id="15" name="Picture 23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6107" y="2530971"/>
            <a:ext cx="1271786" cy="438150"/>
          </a:xfrm>
          <a:prstGeom prst="rect">
            <a:avLst/>
          </a:prstGeom>
        </p:spPr>
      </p:pic>
      <p:sp>
        <p:nvSpPr>
          <p:cNvPr id="16" name="TextBox 25"/>
          <p:cNvSpPr/>
          <p:nvPr/>
        </p:nvSpPr>
        <p:spPr>
          <a:xfrm>
            <a:off x="3936107" y="2610346"/>
            <a:ext cx="12717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0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评估不可篡改</a:t>
            </a:r>
            <a:endParaRPr lang="en-US" sz="975" dirty="0"/>
          </a:p>
        </p:txBody>
      </p:sp>
      <p:sp>
        <p:nvSpPr>
          <p:cNvPr id="17" name="TextBox 27"/>
          <p:cNvSpPr/>
          <p:nvPr/>
        </p:nvSpPr>
        <p:spPr>
          <a:xfrm>
            <a:off x="3936107" y="2826246"/>
            <a:ext cx="1271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1F0EC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冻结 Evaluator · Rubric 证据</a:t>
            </a:r>
            <a:endParaRPr lang="en-US" sz="750" dirty="0"/>
          </a:p>
        </p:txBody>
      </p:sp>
      <p:sp>
        <p:nvSpPr>
          <p:cNvPr id="18" name="Shape 30"/>
          <p:cNvSpPr/>
          <p:nvPr/>
        </p:nvSpPr>
        <p:spPr>
          <a:xfrm>
            <a:off x="5341243" y="2530971"/>
            <a:ext cx="1271786" cy="438150"/>
          </a:xfrm>
          <a:prstGeom prst="rect">
            <a:avLst/>
          </a:prstGeom>
          <a:noFill/>
          <a:ln/>
        </p:spPr>
      </p:sp>
      <p:pic>
        <p:nvPicPr>
          <p:cNvPr id="19" name="Picture 30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1243" y="2530971"/>
            <a:ext cx="1271786" cy="438150"/>
          </a:xfrm>
          <a:prstGeom prst="rect">
            <a:avLst/>
          </a:prstGeom>
        </p:spPr>
      </p:pic>
      <p:sp>
        <p:nvSpPr>
          <p:cNvPr id="20" name="TextBox 32"/>
          <p:cNvSpPr/>
          <p:nvPr/>
        </p:nvSpPr>
        <p:spPr>
          <a:xfrm>
            <a:off x="5341243" y="2610346"/>
            <a:ext cx="12717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0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并行可复现</a:t>
            </a:r>
            <a:endParaRPr lang="en-US" sz="975" dirty="0"/>
          </a:p>
        </p:txBody>
      </p:sp>
      <p:sp>
        <p:nvSpPr>
          <p:cNvPr id="21" name="TextBox 34"/>
          <p:cNvSpPr/>
          <p:nvPr/>
        </p:nvSpPr>
        <p:spPr>
          <a:xfrm>
            <a:off x="5341243" y="2826246"/>
            <a:ext cx="1271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1F0EC">
                    <a:alpha val="6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Git worktree · ExpCkpt 树</a:t>
            </a:r>
            <a:endParaRPr lang="en-US" sz="750" dirty="0"/>
          </a:p>
        </p:txBody>
      </p:sp>
      <p:sp>
        <p:nvSpPr>
          <p:cNvPr id="22" name="Shape 38"/>
          <p:cNvSpPr/>
          <p:nvPr/>
        </p:nvSpPr>
        <p:spPr>
          <a:xfrm>
            <a:off x="476250" y="3197721"/>
            <a:ext cx="8191500" cy="257175"/>
          </a:xfrm>
          <a:prstGeom prst="roundRect">
            <a:avLst>
              <a:gd name="adj" fmla="val 50000"/>
            </a:avLst>
          </a:prstGeom>
          <a:noFill/>
          <a:ln w="3175">
            <a:solidFill>
              <a:srgbClr val="F1F0EC">
                <a:alpha val="16000"/>
              </a:srgbClr>
            </a:solidFill>
            <a:prstDash val="solid"/>
          </a:ln>
        </p:spPr>
      </p:sp>
      <p:sp>
        <p:nvSpPr>
          <p:cNvPr id="23" name="TextBox 40"/>
          <p:cNvSpPr/>
          <p:nvPr/>
        </p:nvSpPr>
        <p:spPr>
          <a:xfrm>
            <a:off x="669925" y="3277096"/>
            <a:ext cx="86916" cy="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84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</a:t>
            </a:r>
            <a:endParaRPr lang="en-US" sz="600" dirty="0"/>
          </a:p>
        </p:txBody>
      </p:sp>
      <p:sp>
        <p:nvSpPr>
          <p:cNvPr id="24" name="TextBox 41"/>
          <p:cNvSpPr/>
          <p:nvPr/>
        </p:nvSpPr>
        <p:spPr>
          <a:xfrm>
            <a:off x="842566" y="3277096"/>
            <a:ext cx="86916" cy="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84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600" dirty="0"/>
          </a:p>
        </p:txBody>
      </p:sp>
      <p:sp>
        <p:nvSpPr>
          <p:cNvPr id="25" name="TextBox 42"/>
          <p:cNvSpPr/>
          <p:nvPr/>
        </p:nvSpPr>
        <p:spPr>
          <a:xfrm>
            <a:off x="1015206" y="3277096"/>
            <a:ext cx="281980" cy="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84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SPACE</a:t>
            </a:r>
            <a:endParaRPr lang="en-US" sz="600" dirty="0"/>
          </a:p>
        </p:txBody>
      </p:sp>
      <p:sp>
        <p:nvSpPr>
          <p:cNvPr id="26" name="TextBox 43"/>
          <p:cNvSpPr/>
          <p:nvPr/>
        </p:nvSpPr>
        <p:spPr>
          <a:xfrm>
            <a:off x="1382911" y="3277096"/>
            <a:ext cx="173782" cy="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84" kern="0" dirty="0">
                <a:solidFill>
                  <a:srgbClr val="F1F0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翻页</a:t>
            </a:r>
            <a:endParaRPr lang="en-US" sz="600" dirty="0"/>
          </a:p>
        </p:txBody>
      </p:sp>
      <p:sp>
        <p:nvSpPr>
          <p:cNvPr id="27" name="TextBox 44"/>
          <p:cNvSpPr/>
          <p:nvPr/>
        </p:nvSpPr>
        <p:spPr>
          <a:xfrm>
            <a:off x="1642418" y="3277096"/>
            <a:ext cx="56406" cy="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84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600" dirty="0"/>
          </a:p>
        </p:txBody>
      </p:sp>
      <p:sp>
        <p:nvSpPr>
          <p:cNvPr id="28" name="TextBox 45"/>
          <p:cNvSpPr/>
          <p:nvPr/>
        </p:nvSpPr>
        <p:spPr>
          <a:xfrm>
            <a:off x="1784548" y="3277096"/>
            <a:ext cx="169168" cy="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84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#/N</a:t>
            </a:r>
            <a:endParaRPr lang="en-US" sz="600" dirty="0"/>
          </a:p>
        </p:txBody>
      </p:sp>
      <p:sp>
        <p:nvSpPr>
          <p:cNvPr id="29" name="TextBox 46"/>
          <p:cNvSpPr/>
          <p:nvPr/>
        </p:nvSpPr>
        <p:spPr>
          <a:xfrm>
            <a:off x="2039442" y="3277096"/>
            <a:ext cx="173782" cy="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84" kern="0" dirty="0">
                <a:solidFill>
                  <a:srgbClr val="F1F0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跳页</a:t>
            </a:r>
            <a:endParaRPr lang="en-US" sz="600" dirty="0"/>
          </a:p>
        </p:txBody>
      </p:sp>
      <p:sp>
        <p:nvSpPr>
          <p:cNvPr id="30" name="Shape 50"/>
          <p:cNvSpPr/>
          <p:nvPr/>
        </p:nvSpPr>
        <p:spPr>
          <a:xfrm>
            <a:off x="476250" y="4384427"/>
            <a:ext cx="8191500" cy="339973"/>
          </a:xfrm>
          <a:prstGeom prst="rect">
            <a:avLst/>
          </a:prstGeom>
          <a:solidFill>
            <a:srgbClr val="C04A1A">
              <a:alpha val="14000"/>
            </a:srgbClr>
          </a:solidFill>
          <a:ln/>
        </p:spPr>
      </p:sp>
      <p:pic>
        <p:nvPicPr>
          <p:cNvPr id="31" name="Picture 50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" y="4384427"/>
            <a:ext cx="8191500" cy="339973"/>
          </a:xfrm>
          <a:prstGeom prst="rect">
            <a:avLst/>
          </a:prstGeom>
        </p:spPr>
      </p:pic>
      <p:sp>
        <p:nvSpPr>
          <p:cNvPr id="32" name="TextBox 52"/>
          <p:cNvSpPr/>
          <p:nvPr/>
        </p:nvSpPr>
        <p:spPr>
          <a:xfrm>
            <a:off x="565150" y="4552355"/>
            <a:ext cx="3352800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930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F1F0EC">
                    <a:alpha val="62000"/>
                  </a:srgbClr>
                </a:solidFill>
                <a:highlight>
                  <a:srgbClr val="C04A1A"/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收束：请决策者记住三点——控制面唯一、评估冻结、实验树可回溯。邀请进入最小闭环实现评审。</a:t>
            </a:r>
            <a:endParaRPr lang="en-US" sz="600" dirty="0"/>
          </a:p>
        </p:txBody>
      </p:sp>
      <p:sp>
        <p:nvSpPr>
          <p:cNvPr id="33" name="TextBox 51"/>
          <p:cNvSpPr/>
          <p:nvPr/>
        </p:nvSpPr>
        <p:spPr>
          <a:xfrm>
            <a:off x="565150" y="4441577"/>
            <a:ext cx="8026400" cy="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450" spc="72" kern="0" dirty="0">
                <a:solidFill>
                  <a:srgbClr val="C04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演讲备注</a:t>
            </a:r>
            <a:endParaRPr lang="en-US" sz="450" dirty="0"/>
          </a:p>
        </p:txBody>
      </p:sp>
      <p:sp>
        <p:nvSpPr>
          <p:cNvPr id="34" name="Shape 54"/>
          <p:cNvSpPr/>
          <p:nvPr/>
        </p:nvSpPr>
        <p:spPr>
          <a:xfrm>
            <a:off x="476250" y="4724400"/>
            <a:ext cx="8191500" cy="152400"/>
          </a:xfrm>
          <a:prstGeom prst="rect">
            <a:avLst/>
          </a:prstGeom>
          <a:noFill/>
          <a:ln/>
        </p:spPr>
      </p:sp>
      <p:pic>
        <p:nvPicPr>
          <p:cNvPr id="35" name="Picture 54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6250" y="4724400"/>
            <a:ext cx="8191500" cy="152400"/>
          </a:xfrm>
          <a:prstGeom prst="rect">
            <a:avLst/>
          </a:prstGeom>
        </p:spPr>
      </p:pic>
      <p:sp>
        <p:nvSpPr>
          <p:cNvPr id="36" name="TextBox 55"/>
          <p:cNvSpPr/>
          <p:nvPr/>
        </p:nvSpPr>
        <p:spPr>
          <a:xfrm>
            <a:off x="476250" y="4794250"/>
            <a:ext cx="312043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</a:t>
            </a:r>
            <a:endParaRPr lang="en-US" sz="488" dirty="0"/>
          </a:p>
        </p:txBody>
      </p:sp>
      <p:sp>
        <p:nvSpPr>
          <p:cNvPr id="37" name="TextBox 56"/>
          <p:cNvSpPr/>
          <p:nvPr/>
        </p:nvSpPr>
        <p:spPr>
          <a:xfrm>
            <a:off x="7330430" y="4794250"/>
            <a:ext cx="1337320" cy="8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88" spc="59" kern="0" dirty="0">
                <a:solidFill>
                  <a:srgbClr val="F1F0E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Athena · Automated AI4S · 2026</a:t>
            </a:r>
            <a:endParaRPr lang="en-US" sz="4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2026-07-12T07:14:35Z</dcterms:created>
  <dcterms:modified xsi:type="dcterms:W3CDTF">2026-07-12T07:14:35Z</dcterms:modified>
</cp:coreProperties>
</file>